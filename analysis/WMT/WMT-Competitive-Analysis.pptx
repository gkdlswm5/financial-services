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10972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Times New Roman"/>
              </a:rPr>
              <a:t>NYSE: WMT — Investment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Times New Roman"/>
              </a:rPr>
              <a:t>Walmart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0" i="0">
                <a:solidFill>
                  <a:srgbClr val="FFC220"/>
                </a:solidFill>
                <a:latin typeface="Times New Roman"/>
              </a:rPr>
              <a:t>Competitive Landscape &amp; Investment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404040"/>
                </a:solidFill>
                <a:latin typeface="Times New Roman"/>
              </a:rPr>
              <a:t>As of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Peer set: Costco · Target · Amazon · Kroger · BJ's Wholesale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Built using `competitive-analysis` + `comps-analysis` skills (financial-services repo)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Companion workbook: WMT-Comps-Analysis.xlsx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Scale + omnichannel flywheel + ad/marketplace mix = a re-rating story, not a retail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21031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1. The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280160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Walmart is the largest retailer on earth (~$685B TTM revenue) and the only grocery-anchored peer compounding ad + marketplace + membership revenue at 20–30% annual growth — three tiers structurally higher-margin than core retail.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21031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2. The flywheel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514600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Stores + supply chain → low-cost grocery → traffic → high-margin ad inventory (Walmart Connect ~$5B run-rate) → marketplace 3P GMV → Walmart+ subscription. Each tier funds the next; none of WMT's pure-play peers (COST, KR, BJ, TGT) replicate the full stack.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40"/>
            <a:ext cx="21031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3. The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749040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Stock at ~$95 (~$765B market cap, ~26x TTM EPS) is no longer 'cheap defensive.' Re-rating depends on continued ad/marketplace growth, consumer holding up through a soft-landing year, and Amazon not pressing harder into grocery.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80"/>
            <a:ext cx="21031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4. The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983480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Long thesis intact for the margin-mix re-rating; key Q is duration. Pair against COST (premium peer) for relative-value framing. Avoid if you believe US consumer downtrades meaningfully in 2H 2026.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WMT Q1 FY26 10-Q and IR commentary (May 2026); StockAnalysis.com; companion .xlsx Notes tab for full source 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The question this analysis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i="1">
                <a:solidFill>
                  <a:srgbClr val="17365D"/>
                </a:solidFill>
                <a:latin typeface="Times New Roman"/>
              </a:rPr>
              <a:t>"Is Walmart's ad/marketplace/membership margin mix worth a premium re-rating from the 18-20x P/E of legacy mass-merch — and is the current ~26x TTM P/E a reasonable entry on that thesis?"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Times New Roman"/>
              </a:rPr>
              <a:t>We test that question across five lenses: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(1) Market — is the US retail / e-com / retail-media environment supportive?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1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(2) Competitive — does WMT have a defensible position vs warehouse clubs, mass merch, and AMZN?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199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(3) Financial — what does the valuation look like vs peer comps (COST, TGT, AMZN, KR, BJ)?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8347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(4) Strategic — what's the moat and how durable is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9495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(5) Decision — what's the cleanest expression of conviction (or wait)?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Framework adapted from the `competitive-analysis` skill (financial-services/plugins/vertical-plugins/financial-analysis).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US retail $5T+; grocery share gains, e-com inflecting, retail-media the high-margin tier expanding fastest</a:t>
            </a:r>
          </a:p>
        </p:txBody>
      </p:sp>
      <p:pic>
        <p:nvPicPr>
          <p:cNvPr id="4" name="Picture 3" descr="comp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38425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280160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7365D"/>
                </a:solidFill>
                <a:latin typeface="Times New Roman"/>
              </a:rPr>
              <a:t>What the chart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783080"/>
            <a:ext cx="338328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Warehouse clubs (COST, BJ) lead on comp-sales growth — membership pricing power + value-trade-down winners.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WMT US comp +4.5% — above-trend mass-merch; outpaces TGT 2x.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KR shows grocery still positive but slow; TGT lagging.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AMZN omitted — no comparable-store metric, but online retail growing ~10% YoY.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US retail-media ad spend ~$60B in 2025; growing ~20% YoY (eMarketer, IAB).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Comp sales: each issuer's Q1 FY26 IR releases; ex-fuel/gas. US retail-media TAM: eMarketer / IAB (2025).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Retail value chain — grocery thin, general merch better; ads + 3P marketplace + membership are the margin pools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Grocery / Food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316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Consumables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General Merch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Apparel / 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3P Marketplace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Ads + Mbrshp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Times New Roman"/>
              </a:rPr>
              <a:t>Typical EBIT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Times New Roman"/>
              </a:rPr>
              <a:t>WMT presence: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C220"/>
                </a:solidFill>
                <a:latin typeface="Times New Roman"/>
              </a:rPr>
              <a:t>2–4%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17365D"/>
                </a:solidFill>
                <a:latin typeface="Times New Roman"/>
              </a:rPr>
              <a:t>#1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C220"/>
                </a:solidFill>
                <a:latin typeface="Times New Roman"/>
              </a:rPr>
              <a:t>5–8%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17365D"/>
                </a:solidFill>
                <a:latin typeface="Times New Roman"/>
              </a:rPr>
              <a:t>#1 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C220"/>
                </a:solidFill>
                <a:latin typeface="Times New Roman"/>
              </a:rPr>
              <a:t>10–15%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17365D"/>
                </a:solidFill>
                <a:latin typeface="Times New Roman"/>
              </a:rPr>
              <a:t>Top-2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C220"/>
                </a:solidFill>
                <a:latin typeface="Times New Roman"/>
              </a:rPr>
              <a:t>15–25%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17365D"/>
                </a:solidFill>
                <a:latin typeface="Times New Roman"/>
              </a:rPr>
              <a:t>Mid-tier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C220"/>
                </a:solidFill>
                <a:latin typeface="Times New Roman"/>
              </a:rPr>
              <a:t>25–40%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17365D"/>
                </a:solidFill>
                <a:latin typeface="Times New Roman"/>
              </a:rPr>
              <a:t>Building $50B+ GMV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C220"/>
                </a:solidFill>
                <a:latin typeface="Times New Roman"/>
              </a:rPr>
              <a:t>60–80%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17365D"/>
                </a:solidFill>
                <a:latin typeface="Times New Roman"/>
              </a:rPr>
              <a:t>Connect $5B+ run-rate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What this means for investors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31920"/>
            <a:ext cx="11247120" cy="2468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Grocery anchors the traffic but contributes little to margin. The story-shaping tier is the right two-thirds: ads + 3P marketplace + membership.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Walmart Connect (ads) is reportedly running at &gt;40% EBIT margin — at $5B run-rate, that's ~$2B of incremental EBIT growing 30%+ YoY.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Amazon proved this template: AMZN's advertising services line has compounded to ~$60B TTM — that's the WMT bull case directionally.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Costco does NOT play in ads (intentionally, to protect member trust) — the margin lever WMT has, COST does not.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Kroger's Precision Marketing is the only direct peer comp for retail-media inside grocery; ~$1.5B annualized vs WMT Connect ~$5B.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Margin ranges: industry sources (NRF, Bain, JP Morgan retail primers). WMT/Connect figures: WMT mgmt commentary, Q4 FY25 and Q1 FY26.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Walmart profile — Q1 FY26: revenue +6%, ad+marketplace tiers compounding 20–30%, EBIT margin +25 bps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194560"/>
                <a:gridCol w="1828800"/>
                <a:gridCol w="402336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YoY change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Source / note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Q1 FY26 revenue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~$165B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+6%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WMT Q1 FY26 IR release (May 2026)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Walmart US comp sales (ex-fuel)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+4.5%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n/a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Sustained above-trend mass-merch comps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WMT US e-commerce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~$110B run-rate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+20%+ YoY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Mgmt commentary; ~18% of US revenue mix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Walmart Connect (ad revenue)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~$5B run-rate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+30%+ YoY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Mgmt commentary; not separately disclosed line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Marketplace 3P GMV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~$50B+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+30%+ YoY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Mgmt commentary; mix of US + India (Flipkart)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Membership revenue (Sam's + Walmart+)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~$3B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Sam's +9%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Sam's $2B + Walmart+ ~$1B estimate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revenue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~$685B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n/a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FY25 $681B + Q1 FY26 +6%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EBITDA / Margin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~$45B / ~6.6%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n/a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EBIT $30B + D&amp;A ~$15B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~$765B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n/a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WMT ~$95/share × ~8.05B shares, May 2026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P/E (TTM)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~26x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n/a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vs 5-yr avg ~22x; premium reflects mix-shift narrative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Walmart Q1 FY26 release (May 2026); WMT 10-K FY25 (Mar 2026); StockAnalysis.com market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WMT moat — supply-chain density + EDLP + Connect ad business form three reinforcing layers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21040"/>
              </a:tblGrid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Layer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Description / KPI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Supply-chain scale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~4,600 US stores + ~150 distribution centers; ~90% of US population within 10 miles of a Walmart store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EDLP price gap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WMT averages ~10–15% price gap below TGT/KR on grocery basket (per third-party tracking)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Walmart+ subscription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Sub base ~$1B revenue tier; bundles grocery delivery, Paramount+, fuel discount — embeds household behavior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Marketplace 3P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~150K active sellers; international ramp via Flipkart (India) and Mexico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Walmart Connect (ads)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~$5B run-rate ad business; ~40%+ EBIT margin per mgmt; growing 30%+ YoY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Data + media network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~250M weekly customers → highest-quality first-party shopper-graph in US (vs AMZN's general e-com graph)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DC + automation capex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$15–17B annual capex modernizing DCs, automation, freight — extends per-unit cost gap vs sub-scale grocers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Geographic scale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Walmart International ~$120B revenue; Mexico (Walmex), India (PhonePe + Flipkart), China; supply leverage vs US-only peers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WMT 10-K FY25; mgmt commentary at Q4 FY25 / Q1 FY26 calls; third-party price tracking (Bain, KeyBanc).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Peer set — four strategic groups, three of which WMT competes in directly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64592" cy="109728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3840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Tier 1 — Warehouse club premium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Costco (Nasdaq: COST) — premium-priced peer, membership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BJ's Wholesale (NYSE: BJ) — smaller-scale COST follower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164592" cy="109728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3840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C220"/>
                </a:solidFill>
                <a:latin typeface="Times New Roman"/>
              </a:rPr>
              <a:t>Tier 2 — Mass-merch /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Walmart (NYSE: WMT) — scale leader, omnichannel + ad mix-shift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1868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Target (NYSE: TGT) — cheap-chic, smaller scale, lagging comps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40"/>
            <a:ext cx="164592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40"/>
            <a:ext cx="3840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Times New Roman"/>
              </a:rPr>
              <a:t>Tier 3 — Marketplace /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Amazon (Nasdaq: AMZN) — marketplace + ads + AWS — partial retail comp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5312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(Shopify, eBay — out of scope for WMT direct competition)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83480"/>
            <a:ext cx="164592" cy="109728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3840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BFBFBF"/>
                </a:solidFill>
                <a:latin typeface="Times New Roman"/>
              </a:rPr>
              <a:t>Tier 4 — Pure-play grocery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9496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Kroger (NYSE: KR) — largest US pure-play grocer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8756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(Albertsons, Sprouts, etc. — smaller pure-plays, excluded for tractability)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Peer set per `comps-analysis` 4–6 rule. Excluded: dollar stores (DG, DLTR — different customer cohort), specialty (no overlap with WMT mix).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Scale × E-commerce mix: WMT and AMZN alone occupy upper-right; COST commands a premium at lower mix</a:t>
            </a:r>
          </a:p>
        </p:txBody>
      </p:sp>
      <p:pic>
        <p:nvPicPr>
          <p:cNvPr id="4" name="Picture 3" descr="positi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8046720" cy="50506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280160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7365D"/>
                </a:solidFill>
                <a:latin typeface="Times New Roman"/>
              </a:rPr>
              <a:t>What the matrix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783080"/>
            <a:ext cx="338328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AMZN sits at the extreme — 100% e-com mix, $650B revenue. Pure-digital, AWS-distorted multiples.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WMT is the only scaled (&gt;$500B) omnichannel player — ~18% e-com mix and rising, with stores as fulfillment nodes.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COST sits notably below at ~7.5% e-com — but commands a 40%+ P/E premium on membership economics alone.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TGT has higher e-com mix (~20%) than WMT but a tenth of the scale — disadvantaged on supply-chain unit economics.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KR and BJ are sub-scale on both axes.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E-com mix per most-recent IR disclosure or [E] estimate; bubble size reflects market cap.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Peer deep dive: Costco — Membership-first peer commanding ~40% P/E premium to WMT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56692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</a:tblGrid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~$420B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revenue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~$270B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Q3 FY26 comp sales (ex-gas/FX)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+6.2%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Gross margin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~12.5%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EBITDA / Margin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~$13B / ~4.8%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Net income (TTM)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~$8B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P/E (TTM)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~50x (vs WMT ~26x)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EV / EBITDA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~32x (vs WMT ~17x)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Membership fees (TTM)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~$5B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Renewal rate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~92–93% US/Canada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E-com mix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~7.5%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3949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297680"/>
              </a:tblGrid>
              <a:tr h="10241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Assessment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Business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Warehouse club; ~$5B annual membership fees fund ultra-low merchandise gross margin. Stores carry ~3,800 SKUs vs WMT ~120K.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Strengths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Membership renewal ~92%+ creates recurring-revenue dynamic</a:t>
                      </a:r>
                    </a:p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Pricing power: dues raised 2024 first time in 7 yrs</a:t>
                      </a:r>
                    </a:p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Negative net debt; no leverage risk</a:t>
                      </a:r>
                    </a:p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Executive-membership tier acts as ARPU lever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Weaknesses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Limited assortment vs WMT</a:t>
                      </a:r>
                    </a:p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No ad / retail-media business by design (protects member trust)</a:t>
                      </a:r>
                    </a:p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High dependence on US/Canada; intl expansion slow</a:t>
                      </a:r>
                    </a:p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Premium valuation provides little error margin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Strategy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Volume growth via new warehouses (+25/yr), gradual membership-fee step-ups, slow international ramp. Avoids the ad lane.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Costco FY25 10-K; Q3 FY26 monthly sales releases; StockAnalysis.com.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Peer deep dives: Target, Kroger, BJ — mid-tier scale, narrower moats, varying ad-mix progress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37490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468880"/>
              </a:tblGrid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Target (TGT)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Business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Mass-merch with cheap-chic positioning; ~1,950 US stores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TTM revenue / NI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~$107B / ~$4.2B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Comp sales Q1 FY26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+2% (recovering from FY25 declines)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Roundel (ads)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~$2B run-rate ad business; growing &gt;25%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E-com mix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~20% — proportionally above WMT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Read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Cheap multiple, real recovery in progress, but no scale moat vs WMT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97680" y="1234440"/>
          <a:ext cx="37490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468880"/>
              </a:tblGrid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Kroger (KR)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Business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Largest US pure-play grocer; ~2,700 stores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TTM revenue / NI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~$148B / ~$2.5B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Comp sales Q1 FY26 (ex-fuel)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+2.5%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KPM (ads)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~$1.5B run-rate ad business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E-com mix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~10% (grocery e-com still small)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Read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Defensive; thin EBITDA margin caps multiple; Albertsons merger blocked Dec 2024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38160" y="1234440"/>
          <a:ext cx="35661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</a:tblGrid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BJ's Wholesale (BJ)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Business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Warehouse club; ~245 clubs, NE/Mid-Atlantic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TTM revenue / NI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~$22B / ~$0.55B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Comp sales Q1 FY26 (ex-gas)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+3.8%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Membership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~$470M membership-fee revenue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E-com mix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~5%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Read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Smaller-scale COST follower; valuation discount until renewal-rate parity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TGT/KR/BJ Q1 FY26 IR releases; StockAnalysis.com market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Peer context: Amazon — Comparability caveat (AWS distorts every multiple)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~$2.2T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consolidated revenue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~$650B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EBITDA / margin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~$160B / ~25%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net income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~$65B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advertising services revenue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~$60B (+ 20%+ YoY)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AWS revenue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~$110B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P/E (TTM)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~33x (vs WMT ~26x)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EV / EBITDA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~14x (lower than WMT — AWS lifts EBITDA denominator)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E-com mix (of consolidated)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100% (excl. AWS, ~83%)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0" y="1280160"/>
            <a:ext cx="4572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Why this matters for WMT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783080"/>
            <a:ext cx="457200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AMZN's $60B ad revenue and ~25% consolidated EBITDA margin are the WMT bull-case template directionally.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But: AWS is ~70% of consolidated EBIT — strip it out and AMZN retail margin is ~3–4%, BELOW WMT.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AMZN is squeezing WMT specifically on grocery (Whole Foods + Amazon Fresh + same-day Prime grocery in major metros).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Counter: WMT US grocery is 4–5x the size of AMZN grocery; logistics-density advantage remains.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Pair-trade idea: long WMT / short AMZN expresses confidence in stores-as-fulfillment + slowing AWS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AMZN Q1 FY26 earnings; segment reporting; StockAnalysis.com.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Comparative scoreboard — WMT leads scale &amp; ad-revenue trajectory; lags margin vs COST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1554480"/>
                <a:gridCol w="1554480"/>
                <a:gridCol w="1554480"/>
                <a:gridCol w="1463040"/>
                <a:gridCol w="1371600"/>
              </a:tblGrid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Dimension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WMT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COST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TGT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AMZN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KR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BJ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Revenue scale (TTM)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$685B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$270B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$107B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$650B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$148B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$22B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Comp sales growth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+4.5%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+6.2%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+2.0%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○○○ n/a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+2.5%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+3.8%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EBITDA margin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~6.6%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~4.8%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~9.3%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~25%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~4.7%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~5.0%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Ad / retail-media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$5B+ Connect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○○○ Not played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$2B Roundel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$60B Ads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$1.5B KPM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○○○ Minimal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Membership / loyalty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Walmart+ + Sam's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~$5B fees, 92%+ renewal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Circle 360 new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Prime + subs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○○○ Boost free-tier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$470M fees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Capital intensity (LT debt)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Moderate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Net cash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Moderate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Moderate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Elevated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Moderate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Valuation premium absorbed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~26x P/E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~50x P/E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~17x P/E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~33x P/E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~20x P/E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~27x P/E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● = Strong  ○ = Weak. Subjective ratings calibrated to data in companion .xlsx Operating Metrics / Valuation / Retail-Specific tabs.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Strategic synthesis — Moat: scale + data + logistics · Risk: consumer rollover + AMZN grocery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914400"/>
                <a:gridCol w="914400"/>
                <a:gridCol w="914400"/>
                <a:gridCol w="4846320"/>
              </a:tblGrid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Moat type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WMT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COST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TGT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AMZN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KR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What it means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Network effects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WMT marketplace 3P building; AMZN dominant in 3P; COST not a platform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Switching costs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Membership creates highest switching cost; WMT+ is the lever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Scale economies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WMT's per-unit logistics cost is structurally below TGT/KR/BJ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Intangibles (data)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First-party shopper data quality is the input to ad-business growth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Brand / EDLP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WMT and COST have the strongest 'value' brand equity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Net moat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WMT's durable advantages: (i) only scaled omnichannel player with grocery anchor, (ii) ad+marketplace+membership all compounding 20–30%, (iii) supply-chain density unmatched ex-AMZN.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WMT's structural vulnerabilities: (i) consumer downtrade risk, (ii) AMZN pressing on grocery, (iii) Walmart+ subscriber growth opaque, (iv) capex intensity (~$17B/yr) crowds free cash 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Moat framework per `competitive-analysis` skill Step 9. Ratings: Strong / Moderate (Mod) / Weak — calibrated against peer comparison.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Range of outcomes anchored by ad-revenue compounding (upside) and consumer downtrade (downside)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4937760"/>
                <a:gridCol w="4114800"/>
              </a:tblGrid>
              <a:tr h="1028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Scenario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Prob.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Key driver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Implied direction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Bull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30%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Walmart Connect → $10B+ run-rate by FY28; Walmart+ subs accelerate; EBIT margin reaches 5.5%; tariff dollar-cost-plus pricing absorbed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P/E re-rates to 28–30x; ~25% upside as margin mix shift validates a structural premium to historical 18–22x band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Base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50%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WMT comp +3–5%; Connect/marketplace 25%+ growth continues; EBIT margin holds 4.5–5%; consumer soft-lands; Stage I tariff drag manageable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Stock tracks ~10–15% appreciation over 18 months in line with EBIT growth + 1-multiple expansion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Bear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20%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Consumer downtrade in 2H 2026; AMZN grocery investments compress WMT US comps; tariffs squeeze general-merch GM; Connect deceleration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Multiple compresses to 20x P/E (peer-aligned); 15–20% downside risk to ~$75 on flat earnings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Signposts to watch (next 3 events that re-rate the scenario weighting)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1) Walmart Connect / marketplace growth on Q2 FY26 call   2) US consumer-credit + jobs data through 2H 2026   3) Tariff pass-through impact on Q3/Q4 FY26 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Probabilities are author's judgment, not consensus. For investment use, calibrate to your own conviction and time horizon.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Catalysts &amp; signposts — 2026 → 2028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5029200"/>
                <a:gridCol w="3291840"/>
              </a:tblGrid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When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Who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Event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Impact on WMT thesis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Q2 FY26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 Connect ad-business breakout disclosure expected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Validates re-rating mix-shift thesis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Q3 FY26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Holiday season — tariff pass-through visible in gross margin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Tests pricing power vs consumer elasticity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H2 2026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Amazon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Amazon Fresh / Whole Foods grocery footprint expansion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Direct competitive pressure on WMT grocery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FY27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Sam's Club new-store cadence accelerating (~10+ new clubs)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Competes directly with COST/BJ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FY27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Walmart+ subscriber count disclosure (rumored, not yet committed)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If disclosed, would clarify Prime gap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FY27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Costco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Membership-fee increase reset (last increase 2024) — pricing power test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Cross-read for warehouse-club pricing power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FY28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 International — India (Flipkart) IPO timing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Value-unlock event; sum-of-parts visibility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FY28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EBIT margin tracking towards mgmt long-term framework (~5%+)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Confirms or refutes the structural margin lift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Catalysts compiled from WMT/peer investor commentary and recent media. Track via /catalysts skill in production usage.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Decision frame — four ways to express the Walmart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64592" cy="11430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C220"/>
                </a:solidFill>
                <a:latin typeface="Times New Roman"/>
              </a:rPr>
              <a:t>Long WMT outright (highest conviction)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789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Triggers: Walmart Connect breakout disclosure on Q2 FY26; sustained 4%+ US comp; EBIT margin tracking ≥4.5%. Risk: consumer downtrade in 2H 2026; AMZN grocery escalation. Position sizing reflects 18–36 month hold.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164592" cy="1143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Pair trade: long WMT / short TGT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10789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Triggers: WMT comp gap vs TGT widens; tariff pass-through more painful for TGT general-merch mix; WMT data/scale moat advantages compound. Risk: TGT mean-reverts faster than WMT compounds. Cleanest scale-divergence expression within mass-merch.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40"/>
            <a:ext cx="164592" cy="1143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4904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Times New Roman"/>
              </a:rPr>
              <a:t>Relative value: long WMT / short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10789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Triggers: COST premium narrows as warehouse-club comp slows below WMT; WMT ad business closes margin-mix gap. Risk: COST has demonstrated consistent execution premium — short side may be expensive to carry.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83480"/>
            <a:ext cx="164592" cy="1143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98348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BFBFBF"/>
                </a:solidFill>
                <a:latin typeface="Times New Roman"/>
              </a:rPr>
              <a:t>Avoid / wait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94960"/>
            <a:ext cx="10789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Triggers to re-enter: (i) Walmart+ subscriber count disclosed and credible vs Prime, (ii) P/E retraces to 22x peer-aligned band, (iii) tariff drag fully embedded in numbers. Acknowledges current ~26x P/E already prices significant mix-shift upside.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This deck is research and decision framing — not investment advice. Cross-check valuation against a primary terminal (CapIQ / FactSet / Bloomberg) before acting.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Valuation I — comps and DCF both suggest WMT is at/above fair value at ~$95.50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  <a:latin typeface="Times New Roman"/>
              </a:rPr>
              <a:t>Methods (illustrative ranges; companion files: WMT-Model.xlsx, WMT-Comps-Analysis.xlsx)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3200400"/>
                <a:gridCol w="292608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Implied $/share range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vs $95.50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DCF — base (WACC 7.0% / g 2.5%)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~$70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−27%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DCF — full sensitivity grid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$48 – $127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$95.50 sits in upper third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DCF — bull (WACC 6.0% / g 3.5%)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~$127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+33% (best corner)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Comps — semis/retail median fwd P/E ~18x × FY27E EPS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~$85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−11%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Comps — EV/EBITDA peer median ~11x × FY26E EBITDA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~$92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−4%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Even on a comp-based read (which is closer to mgmt's bull thesis), $95.50 sits modestly above fair value.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DCF says it more emphatically: only the bull WACC/g corner ($127) clears the current price.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Net: WMT has re-rated significantly on the Connect / marketplace narrative; the margin of safety is gone at today's price.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Source: WMT-Model.xlsx (validated, 0 formula errors); WMT-Comps-Analysis.xlsx. DCF computed via verify_model.py cross-check.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Valuation II — base-case DCF $70/share; entire WACC × growth grid mostly below $95.50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51206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DCF bridge (base)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$M / $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PV of explicit FCF (FY27-31)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103,749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PV of terminal value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505,840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Enterprise value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609,589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(–) Net debt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(49,000)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Equity value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560,589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÷ Diluted shares (M)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8,050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Implied value / share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$69.64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Current price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$95.50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Upside / (downside)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(27.1%)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0" y="1280160"/>
            <a:ext cx="5852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7365D"/>
                </a:solidFill>
                <a:latin typeface="Times New Roman"/>
              </a:rPr>
              <a:t>Sensitivity — implied $/share (WACC × terminal g)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52160" y="1691640"/>
          <a:ext cx="5897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68680"/>
                <a:gridCol w="868680"/>
                <a:gridCol w="868680"/>
                <a:gridCol w="868680"/>
                <a:gridCol w="868680"/>
              </a:tblGrid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WACC ↓ / g →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1.5%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2.0%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2.5%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3.0%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3.5%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6.0%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73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81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92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107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127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6.5%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65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71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80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90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105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7.0% (base)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58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63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70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78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89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7.5%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52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57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62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69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77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8.0%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48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51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56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61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67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52160" y="4572000"/>
            <a:ext cx="59436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Center cell ($70) = base case. Terminal value is ~83% of EV — very WACC/g-sensitive (mature retail).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Only the bull corner (6.0% / 3.5%) at $127 exceeds the $95.50 market price.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Implication: WMT's narrative re-rating (Connect ads, marketplace, membership) is largely priced 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Source: WMT-Model.xlsx (validated, 0 formula errors). Lower WACC (7%) and terminal g (2.5%) than AVGO — defensive consumer-staple profile.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Sources, data gaps, and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Primary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Walmart Q1 FY26 earnings release and 10-Q (May 2026); WMT 10-K FY25 (Mar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Costco — Q3 FY26 monthly sales releases; COST 10-K FY25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Target — Q1 FY26 earnings; TGT 10-K FY25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Amazon — Q1 FY26 earnings; AMZN 10-K FY25; segment reporting (Advertising Services, AWS)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Kroger — Q1 FY26 earnings; KR 10-K FY25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BJ's Wholesale — Q1 FY26 earnings; BJ 10-K FY25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Market data: StockAnalysis.com, Yahoo Finance (May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Retail-media TAM: eMarketer / IAB US Retail Media report (2025)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Industry context: Bain, KeyBanc retail primers; NRF; press coverage (CNBC, Bloomberg)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96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Data gaps and caveats (read before using in a binding decision)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MCP data sources (CapIQ / FactSet / Daloopa) WERE NOT USED — the financial-services plugin connectors were not configured in this environment. Numbers should be cross-checked against a terminal before 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92624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[E] flags in the companion .xlsx Inputs tab identify figures estimated from public commentary; cell comments document each assumption.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21808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Walmart Connect (ad business) is NOT separately disclosed in WMT filings — the ~$5B run-rate is mgmt commentary aggregated across calls / interviews. Range of estimates: $4–6B.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50992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Operating-lease liabilities are excluded from Net Debt — material for AMZN (~$80B+) and modest for others; EV understates economic leverage proportionally.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80176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AMZN consolidated multiples include AWS — they materially distort a 'retail-only' comparison. A clean comparison would require segment-level disaggregation.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0936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This research is for educational/decision-framing use only and is not investment advice.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Built per the `competitive-analysis` and `comps-analysis` skills in financial-services/plugins/vertical-plugins/financial-analysis. Companion file: WMT-Comps-Analysis.xlsx.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