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10972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0" i="1">
                <a:solidFill>
                  <a:srgbClr val="FFFFFF"/>
                </a:solidFill>
                <a:latin typeface="Times New Roman"/>
              </a:rPr>
              <a:t>NASDAQ: AVGO — Investment Decision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1280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Times New Roman"/>
              </a:rPr>
              <a:t>Broadcom Inc.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600" b="0" i="0">
                <a:solidFill>
                  <a:srgbClr val="CC0000"/>
                </a:solidFill>
                <a:latin typeface="Times New Roman"/>
              </a:rPr>
              <a:t>Competitive Landscape, Comps &amp; DCF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1">
                <a:solidFill>
                  <a:srgbClr val="404040"/>
                </a:solidFill>
                <a:latin typeface="Times New Roman"/>
              </a:rPr>
              <a:t>As of June 3, 2026 (post-Q2 FY26 print)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97280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Times New Roman"/>
              </a:rPr>
              <a:t>Peer set: NVIDIA · AMD · Marvell · Qualcomm · Texas Instruments  +  Oracle (software anchor)</a:t>
            </a:r>
          </a:p>
          <a:p>
            <a:pPr algn="l"/>
            <a:r>
              <a:rPr sz="1300" b="0" i="0">
                <a:solidFill>
                  <a:srgbClr val="404040"/>
                </a:solidFill>
                <a:latin typeface="Times New Roman"/>
              </a:rPr>
              <a:t>Built with deep-research + competitive-analysis + comps-analysis + 3-statement-model + dcf-model skills</a:t>
            </a:r>
          </a:p>
          <a:p>
            <a:pPr algn="l"/>
            <a:r>
              <a:rPr sz="1300" b="0" i="0">
                <a:solidFill>
                  <a:srgbClr val="404040"/>
                </a:solidFill>
                <a:latin typeface="Times New Roman"/>
              </a:rPr>
              <a:t>Companion files: AVGO-Comps-Analysis.xlsx · AVGO-Model.xlsx (3-statement + DCF)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17365D"/>
                </a:solidFill>
                <a:latin typeface="Times New Roman"/>
              </a:rPr>
              <a:t>Q2 print confirms the franchise — but at ~$482, even after the move, the price still embeds bull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219456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1. The franchise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234440"/>
            <a:ext cx="87782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50" b="0" i="0">
                <a:solidFill>
                  <a:srgbClr val="404040"/>
                </a:solidFill>
                <a:latin typeface="Times New Roman"/>
              </a:rPr>
              <a:t>AVGO is the #1 custom AI-silicon (XPU/ASIC) design house (~70% share) + leading AI networking (Tomahawk/Jericho). Q2 FY26: revenue $22.2B (+48%), AI revenue $10.8B (+143%), adj. EBITDA $15.2B (69%), FCF $10.3B (46% margin). Q3 guide $29.4B (+84%). $73B AI backlog; 6 committed hyperscaler customers.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78024"/>
            <a:ext cx="219456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2. The FCF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478024"/>
            <a:ext cx="87782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50" b="0" i="0">
                <a:solidFill>
                  <a:srgbClr val="404040"/>
                </a:solidFill>
                <a:latin typeface="Times New Roman"/>
              </a:rPr>
              <a:t>VMware turned Infrastructure Software into a ~$27B/yr, ~78%-operating-margin annuity. Consolidated TTM FCF ~$33B+ (~44% margin) after Q2's $10.3B print. Net debt down to ~$49B from a ~$74B post-VMware peak; dividend $0.65/qtr (+10%).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21608"/>
            <a:ext cx="219456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3. The valuation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3721608"/>
            <a:ext cx="87782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50" b="0" i="0">
                <a:solidFill>
                  <a:srgbClr val="404040"/>
                </a:solidFill>
                <a:latin typeface="Times New Roman"/>
              </a:rPr>
              <a:t>Hock Tan REITERATED — did NOT raise — the FY27 'AI $100B+' guide despite the Q2 beat. Our base-case DCF (now haircut ~15% to $85B FY27 AI) yields ~$264/share. The ENTIRE WACC×g grid ($200–$311) sits below the ~$482 market price; bull corner ~$395.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65192"/>
            <a:ext cx="219456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4. The 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4965192"/>
            <a:ext cx="87782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50" b="0" i="0">
                <a:solidFill>
                  <a:srgbClr val="404040"/>
                </a:solidFill>
                <a:latin typeface="Times New Roman"/>
              </a:rPr>
              <a:t>The Q2 beat closed some of the gap (stock +4.7% on the print) — but the structural finding holds: to justify $482 you still need the full mgmt FY27 AI delivered AND a low discount rate. High-quality compounder; no margin of safety. Long on pullbacks; pair vs MRVL; trim into strength.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Times New Roman"/>
              </a:rPr>
              <a:t>Sources: AVGO Q2 FY26 IR (June 3, 2026); AVGO-Model.xlsx (base-case DCF); The Information (May 2026, OpenAI financing). Research, not investment advice.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17365D"/>
                </a:solidFill>
                <a:latin typeface="Times New Roman"/>
              </a:rPr>
              <a:t>The question this analysis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0" i="1">
                <a:solidFill>
                  <a:srgbClr val="17365D"/>
                </a:solidFill>
                <a:latin typeface="Times New Roman"/>
              </a:rPr>
              <a:t>"Broadcom Q2 FY26 (June 3) printed +48% revenue, AI +143%, with Q3 guided +84% — but the stock is at ~$482 (~$2.3T, ~29x fwd). How much of the AI bull case is already in the price post-print, and what has to be true to justify owning it here?"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404040"/>
                </a:solidFill>
                <a:latin typeface="Times New Roman"/>
              </a:rPr>
              <a:t>We test that across five lenses: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Times New Roman"/>
              </a:rPr>
              <a:t>(1) Market — is the hyperscaler AI-capex cycle still supportive?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61104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Times New Roman"/>
              </a:rPr>
              <a:t>(2) Competitive — how durable is AVGO's custom-ASIC + networking position vs NVDA, AMD, MRVL?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81728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Times New Roman"/>
              </a:rPr>
              <a:t>(3) Financial (comps) — how does AVGO screen vs the semis cohort + ORCL software anchor?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02352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Times New Roman"/>
              </a:rPr>
              <a:t>(4) Intrinsic (DCF) — what is AVGO worth on a base case, and what does $460 imply?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522976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Times New Roman"/>
              </a:rPr>
              <a:t>(5) Decision — bull/base/bear and the cleanest way to express a view.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Times New Roman"/>
              </a:rPr>
              <a:t>Framework per the `competitive-analysis` skill; valuation per `3-statement-model` + `dcf-model`.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17365D"/>
                </a:solidFill>
                <a:latin typeface="Times New Roman"/>
              </a:rPr>
              <a:t>Hyperscaler AI capex ~$630–725B in 2026, $1T+ by 2027 — mix shifting to custom silicon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75895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286000"/>
              </a:tblGrid>
              <a:tr h="60089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Driver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Data point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Source / note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Big-4 capex 2025A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~$388–410B (record)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MSFT, GOOGL, AMZN, META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Big-4 capex 2026E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~$630–725B (+62–77%)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CNBC / Tom's Hardware (range)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Total compute capex 2026E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~$1.04T (first trillion-$ yr)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incl. Oracle, neoclouds, sovereigns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AI accelerator TAM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~$200B → $500B+ by late-decade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GPU + ASIC both growing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Custom ASIC growth 2026E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~+45% units vs ~+16% GPU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ASIC units to surpass GPU by 2027 (Goldman)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AVGO + MRVL share of custom ASIC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~95% of co-design market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Tom's Hardware / Dell'Oro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0" y="1280160"/>
            <a:ext cx="3657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CC0000"/>
                </a:solidFill>
                <a:latin typeface="Times New Roman"/>
              </a:rPr>
              <a:t>The catch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783080"/>
            <a:ext cx="3657600" cy="457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>• Capex growing ~46% faster than revenue — wider than the 2001 telecom-bust divergence (Allianz).</a:t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/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>• ~$400B/yr implied AI depreciation &gt; Big-4's combined profits.</a:t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/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>• Power is the binding constraint: Gartner sees ~40% of AI DCs power-limited by 2027.</a:t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/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>• Bull case intact near-term; digestion risk into 2027–28 is the key macro swing factor for AVGO.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Times New Roman"/>
              </a:rPr>
              <a:t>Sources: CNBC, Tom's Hardware, Goldman Sachs, Dell'Oro, Allianz, Gartner (2026). Figures are third-party estimates; ranges where sources diverge.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17365D"/>
                </a:solidFill>
                <a:latin typeface="Times New Roman"/>
              </a:rPr>
              <a:t>Two businesses under one roof: a ~60% AI-led semis engine and a ~40% software FCF annuity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371600"/>
                <a:gridCol w="1463040"/>
                <a:gridCol w="1463040"/>
                <a:gridCol w="1463040"/>
                <a:gridCol w="2560320"/>
              </a:tblGrid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Segment (Q1 FY26)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Revenue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Mix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Growth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Op margin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Role in thesis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Semiconductor Solutions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$12.5B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~65%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+52% YoY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~high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AI ASIC + networking = the growth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  of which: AI semiconductors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$8.4B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~44% of total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+106% YoY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The engine; Q2 guide $10.7B (+140%)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  of which: non-AI semis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$4.1B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~21% of total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~flat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Cyclical; Apple Wi-Fi insourcing a headwind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Infrastructure Software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$6.8B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~35%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+1% YoY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78%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VMware annuity = the FCF / margin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$19.3B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100%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+29% YoY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66% (non-GAAP)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Adj. EBITDA $13.1B (68%)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1247120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50" b="0" i="0">
                <a:solidFill>
                  <a:srgbClr val="404040"/>
                </a:solidFill>
                <a:latin typeface="Times New Roman"/>
              </a:rPr>
              <a:t>• The semis engine is what re-rates the stock — AI revenue +106% with a $73B backlog and 'line of sight to $100B+ AI in FY27'.</a:t>
            </a:r>
          </a:p>
          <a:p>
            <a:pPr algn="l"/>
            <a:r>
              <a:rPr sz="1250" b="0" i="0">
                <a:solidFill>
                  <a:srgbClr val="404040"/>
                </a:solidFill>
                <a:latin typeface="Times New Roman"/>
              </a:rPr>
              <a:t>• The software annuity (78% operating margin, ~$27B/yr) is what de-risks it — recurring, high-margin cash funding debt paydown + buybacks.</a:t>
            </a:r>
          </a:p>
          <a:p>
            <a:pPr algn="l"/>
            <a:r>
              <a:rPr sz="1250" b="0" i="0">
                <a:solidFill>
                  <a:srgbClr val="404040"/>
                </a:solidFill>
                <a:latin typeface="Times New Roman"/>
              </a:rPr>
              <a:t>• This bifurcation is why the comps need a software anchor (ORCL) alongside the semis cohort — neither lens alone captures AVGO.</a:t>
            </a:r>
          </a:p>
          <a:p>
            <a:pPr algn="l"/>
            <a:r>
              <a:rPr sz="1250" b="0" i="0">
                <a:solidFill>
                  <a:srgbClr val="404040"/>
                </a:solidFill>
                <a:latin typeface="Times New Roman"/>
              </a:rPr>
              <a:t>• Caveat: AVGO reports ONE Semiconductor segment; the AI / non-AI split is per management commentary, partly estimated.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Times New Roman"/>
              </a:rPr>
              <a:t>Source: Broadcom Q1 FY26 earnings release (Mar 2026). Op margins are segment-level; consolidated 66% is non-GAAP.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17365D"/>
                </a:solidFill>
                <a:latin typeface="Times New Roman"/>
              </a:rPr>
              <a:t>Broadcom profile — AI inflection with a fortress FCF profile and de-levering balance sheet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56692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65176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Metric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Q1 FY26 revenue / Q2 actual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$19.3B (+29%) / $22.2B (+48%)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Q1+Q2 FY26 AI revenue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$8.4B + $10.8B = $19.2B (+143% Q2 YoY)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Q3 FY26 guide (total)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$29.4B (+84%) — beat consensus $28.5B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FY26 revenue consensus [E]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~$103-105B (raised post-Q2)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Q2 adj. EBITDA / margin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$15.2B / 69%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TTM free cash flow [E]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~$33B+ (~44% margin); Q2 alone $10.3B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Total debt / cash [E]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~$65B / ~$16B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Net debt [E]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~$49B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Market cap / EV [E]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~$2.28T / ~$2.33T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P/E TTM / forward [E]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~75x / ~29x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Dividend (FY26)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$0.65/qtr (~0.54% yield, +10%)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ai_ra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486400" cy="27699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5120640"/>
            <a:ext cx="5486400" cy="1280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04040"/>
                </a:solidFill>
                <a:latin typeface="Times New Roman"/>
              </a:rPr>
              <a:t>• AI revenue: $12.2B (FY24) → $20B (FY25) → base-case $48B/$76B (FY26/27E).</a:t>
            </a:r>
          </a:p>
          <a:p>
            <a:pPr algn="l"/>
            <a:r>
              <a:rPr sz="1050" b="0" i="0">
                <a:solidFill>
                  <a:srgbClr val="404040"/>
                </a:solidFill>
                <a:latin typeface="Times New Roman"/>
              </a:rPr>
              <a:t>• Red bars = our base case; navy marker = mgmt's $100B+ FY27 line-of-sight we haircut ~24%.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Times New Roman"/>
              </a:rPr>
              <a:t>Sources: AVGO Q1 FY26 8-K/IR; StockAnalysis.com (price, shares, debt ~June 1 2026); AVGO-Model.xlsx for projected AI revenue.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17365D"/>
                </a:solidFill>
                <a:latin typeface="Times New Roman"/>
              </a:rPr>
              <a:t>Merchant GPU vs custom ASIC — the structural share shift is the heart of the AVGO bull case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06240"/>
                <a:gridCol w="466344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Dimension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Merchant GPU (NVDA, AMD)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Custom ASIC / XPU (AVGO, MRVL)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Who buys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All AI builders; flexible, CUDA ecosystem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Hyperscalers with scale to amortize design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2026E unit growth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~+16%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~+45% (nearly 3x)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Share of accelerators today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~70% (NVDA) eroding at margin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~15–25%, rising toward ~50% by 2027 (Goldman)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Economics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High merchant margin; NVDA ~75% GM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Lower unit margin, but sticky multi-gen design lock-in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AVGO position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n/a (not merchant)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~70% of custom AI accelerator DESIGN market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480560"/>
            <a:ext cx="11247120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  <a:latin typeface="Times New Roman"/>
              </a:rPr>
              <a:t>• The bull case: as hyperscalers internalize inference on cost-optimized custom silicon, the ASIC pool grows ~3x faster than GPUs — and AVGO + MRVL own ~95% of that design market.</a:t>
            </a:r>
          </a:p>
          <a:p>
            <a:pPr algn="l"/>
            <a:r>
              <a:rPr sz="1200" b="0" i="0">
                <a:solidFill>
                  <a:srgbClr val="404040"/>
                </a:solidFill>
                <a:latin typeface="Times New Roman"/>
              </a:rPr>
              <a:t>• The bear case: AVGO's AI revenue leans on a handful of programs (Google, Meta, ByteDance, OpenAI, Anthropic, Apple). Google adding MediaTek/Marvell as second sources dilutes per-program content; an OpenAI/program slip is a large hole.</a:t>
            </a:r>
          </a:p>
          <a:p>
            <a:pPr algn="l"/>
            <a:r>
              <a:rPr sz="1200" b="0" i="0">
                <a:solidFill>
                  <a:srgbClr val="404040"/>
                </a:solidFill>
                <a:latin typeface="Times New Roman"/>
              </a:rPr>
              <a:t>• Networking is the under-appreciated leg: Tomahawk 6 (102.4 Tb/s) + Jericho4 position open-Ethernet against NVIDIA NVLink/Spectrum/InfiniBand — Ethernet has now passed InfiniBand in AI back-end share (Dell'Oro).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Times New Roman"/>
              </a:rPr>
              <a:t>Sources: Goldman Sachs, Dell'Oro, Tom's Hardware, The Next Platform (2026). ASIC/GPU mix figures are estimates.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17365D"/>
                </a:solidFill>
                <a:latin typeface="Times New Roman"/>
              </a:rPr>
              <a:t>AVGO moat — custom-silicon switching costs + IP + a $73B backlog + VMware lock-in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138160"/>
              </a:tblGrid>
              <a:tr h="60579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Layer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Detail / KPI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Custom-silicon design lock-in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Multi-year co-design with hyperscalers; switching cost is a full chip re-spin. ~70% of custom ASIC design market.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AI backlog visibility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~$73B AI backlog; 'line of sight to $100B+ AI revenue in FY27' across 6 committed customers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Confirmed anchor customers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Google (TPU/Ironwood), Meta (MTIA), ByteDance; + Anthropic (~$21B), OpenAI (~10GW), Apple ('Baltra')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AI networking franchise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Tomahawk 6 (102.4 Tb/s) + Tomahawk Ultra + Jericho4 — open Ethernet vs NVIDIA NVLink/InfiniBand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IP &amp; SerDes leadership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Industry-leading 200G+ SerDes; deep analog/mixed-signal + optical (CPO) IP portfolio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VMware software annuity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~$27B/yr, ~78% operating margin, recurring; deepens enterprise lock-in and funds capital return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Capital-return discipline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Hock Tan playbook: acquire, raise margins, pay down debt, grow dividend — ~$28.9B TTM FCF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Times New Roman"/>
              </a:rPr>
              <a:t>Sources: Broadcom IR &amp; earnings calls; CNBC (Anthropic, Dec 2025); company product releases (Tomahawk/Jericho). Some customer details reported/rumored.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17365D"/>
                </a:solidFill>
                <a:latin typeface="Times New Roman"/>
              </a:rPr>
              <a:t>Peer set — semis cohort for the ~60%, an infrastructure-software anchor for the ~40%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64592" cy="109728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4572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CC0000"/>
                </a:solidFill>
                <a:latin typeface="Times New Roman"/>
              </a:rPr>
              <a:t>Closest competitor — custom silicon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515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  <a:latin typeface="Times New Roman"/>
              </a:rPr>
              <a:t>• Marvell (MRVL) — #2 custom-ASIC house; Amazon Trainium, Microsoft Maia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84248"/>
            <a:ext cx="10515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  <a:latin typeface="Times New Roman"/>
              </a:rPr>
              <a:t>• The cleanest read-through to AVGO's AI ASIC franchise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14600"/>
            <a:ext cx="164592" cy="109728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4572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Merchant-GPU benchmarks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10515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  <a:latin typeface="Times New Roman"/>
              </a:rPr>
              <a:t>• NVIDIA (NVDA) — AI accelerator leader; the multiple everyone anchors 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18688"/>
            <a:ext cx="10515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  <a:latin typeface="Times New Roman"/>
              </a:rPr>
              <a:t>• AMD (AMD) — #2 data-center GPU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49040"/>
            <a:ext cx="164592" cy="109728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49040"/>
            <a:ext cx="4572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BFBFBF"/>
                </a:solidFill>
                <a:latin typeface="Times New Roman"/>
              </a:rPr>
              <a:t>Mature-semi capital-return refs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60520"/>
            <a:ext cx="10515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  <a:latin typeface="Times New Roman"/>
              </a:rPr>
              <a:t>• Qualcomm (QCOM) — connectivity; value multiple, low AI-accelerator exposure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53128"/>
            <a:ext cx="10515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  <a:latin typeface="Times New Roman"/>
              </a:rPr>
              <a:t>• Texas Instruments (TXN) — analog; dividend/quality reference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983480"/>
            <a:ext cx="164592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983480"/>
            <a:ext cx="4572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2E7D32"/>
                </a:solidFill>
                <a:latin typeface="Times New Roman"/>
              </a:rPr>
              <a:t>Software anchor (VMware ~40%)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394960"/>
            <a:ext cx="10515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  <a:latin typeface="Times New Roman"/>
              </a:rPr>
              <a:t>• Oracle (ORCL) — large-cap infra software, now AI-capex-driven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687568"/>
            <a:ext cx="10515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  <a:latin typeface="Times New Roman"/>
              </a:rPr>
              <a:t>• Frames the software segment (memo; excluded from semis stats)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Times New Roman"/>
              </a:rPr>
              <a:t>Peer framing per `comps-analysis`. Statistics computed over the 5 semis peers; ORCL shown as a software-anchor memo (you don't median a software multiple into a semis set).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17365D"/>
                </a:solidFill>
                <a:latin typeface="Times New Roman"/>
              </a:rPr>
              <a:t>Positioning — NVDA is scaled-and-fast; AVGO is the scaled compounder; MRVL the high-beta proxy</a:t>
            </a:r>
          </a:p>
        </p:txBody>
      </p:sp>
      <p:pic>
        <p:nvPicPr>
          <p:cNvPr id="4" name="Picture 3" descr="positio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8046720" cy="5044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128016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17365D"/>
                </a:solidFill>
                <a:latin typeface="Times New Roman"/>
              </a:rPr>
              <a:t>What the matrix says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783080"/>
            <a:ext cx="3383280" cy="457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>• NVIDIA: uniquely scaled AND +85% — the outlier; vast profitability justifies a 'low' P/E.</a:t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/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>• AVGO: $68B revenue at +29%, with the highest-margin/FCF profile — a scaled compounder, not a hyper-grower.</a:t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/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>• Marvell: small but +28% and re-rating — the high-beta way to play the same ASIC theme.</a:t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/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>• QCOM/TXN: scaled but mature/cyclical, limited AI-accelerator exposure.</a:t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/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>• Oracle: software anchor, +22% on AI-infra demand.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Times New Roman"/>
              </a:rPr>
              <a:t>Bubble size = market cap. Growth = most recent reported quarter YoY. Source: companion AVGO-Comps-Analysis.xlsx.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17365D"/>
                </a:solidFill>
                <a:latin typeface="Times New Roman"/>
              </a:rPr>
              <a:t>Peer deep dive: NVIDIA — the benchmark; scaled, hyper-profitable, and (optically) not expensive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56692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38328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Metric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Market cap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~$5.46T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TTM revenue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~$253.5B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MRQ revenue growth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+85% YoY (Q1 FY27)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Gross margin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74.9%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TTM EBITDA / margin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~$174.4B / ~69%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TTM net income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~$159.6B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Net cash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net cash (debt $8.5B &lt; cash)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P/E TTM / fwd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~34x / ~26x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EV/EBITDA / EV/Rev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~31x / ~21x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280160"/>
          <a:ext cx="5394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114800"/>
              </a:tblGrid>
              <a:tr h="9144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</a:rPr>
                        <a:t>Category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</a:rPr>
                        <a:t>Assessment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Business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Merchant AI GPU + networking (NVLink, Spectrum-X, InfiniBand); CUDA software moat.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Strengths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• ~70%+ accelerator share</a:t>
                      </a:r>
                    </a:p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• Enormous profitability funds R&amp;D lead</a:t>
                      </a:r>
                    </a:p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• Full-stack (chip+system+software)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Weaknesses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• Custom ASIC share shift is the structural threat</a:t>
                      </a:r>
                    </a:p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• Customer-concentration in a few hyperscalers</a:t>
                      </a:r>
                    </a:p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• Geopolitical/export risk (China)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Read-through to AVGO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NVDA's 'low' P/E sets the ceiling the market pays for AI compute; AVGO trades RICHER on fwd P/E despite slower growth.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Times New Roman"/>
              </a:rPr>
              <a:t>Sources: NVIDIA Q1 FY27 newsroom; Macrotrends; GuruFocus; valueinvesting.io (~June 2026).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17365D"/>
                </a:solidFill>
                <a:latin typeface="Times New Roman"/>
              </a:rPr>
              <a:t>Peer deep dives: AMD (#2 GPU) and Marvell (closest custom-silicon comp)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56692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931920"/>
              </a:tblGrid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</a:rPr>
                        <a:t>AMD (AMD)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Market cap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~$839B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TTM revenue / growth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$37.5B / +38% YoY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Gross margin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~53%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Net income (TTM)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~$5.0B [E] (GAAP ramping)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P/E TTM / fwd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~150–167x / ~33x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EV/Rev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~22x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Read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#2 merchant GPU (MI-series); read on EV/Rev + forward, not GAAP TTM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280160"/>
          <a:ext cx="53949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657600"/>
              </a:tblGrid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</a:rPr>
                        <a:t>Marvell (MRVL)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Market cap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~$192B (+51% on NVDA endorsement)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TTM revenue / growth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~$8.6B [E] / +28% YoY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Gross margin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52.1% GAAP / 58.9% non-GAAP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Net income (TTM)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~$0.3B GAAP [E] (amortization-depressed)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P/E TTM / fwd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NM-high / ~48x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Customers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Amazon Trainium/Inferentia, Microsoft Maia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Read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Closest AVGO ASIC comp; smaller, higher-beta, single net-debt name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Times New Roman"/>
              </a:rPr>
              <a:t>Sources: AMD Q1 2026 8-K; Marvell Q1 FY27 IR; StockAnalysis.com; GuruFocus (~June 2026).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17365D"/>
                </a:solidFill>
                <a:latin typeface="Times New Roman"/>
              </a:rPr>
              <a:t>Peer context: Qualcomm &amp; Texas Instruments — mature-semi valuation anchors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56692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657600"/>
              </a:tblGrid>
              <a:tr h="7315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</a:rPr>
                        <a:t>Qualcomm (QCOM)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Market cap / TTM rev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~$215B / ~$44.5B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MRQ growth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~-3% YoY (handset soft)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TTM EBITDA / margin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~$14.0B / ~31%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P/E TTM / fwd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~20x / ~14x (cheapest fwd)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Read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Value/mature; limited AI-accelerator exposure; sets the cheap end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280160"/>
          <a:ext cx="53949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</a:tblGrid>
              <a:tr h="7315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</a:rPr>
                        <a:t>Texas Instruments (TXN)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Market cap / TTM rev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~$287B / ~$18.4B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MRQ growth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+19% YoY (industrial + DC)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TTM EBITDA / margin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~$8.8B / ~48%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P/E TTM / fwd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~50x / ~30x (trough earnings)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Read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Quality analog/dividend ref; multiples reflect capex-cycle trough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404040"/>
                </a:solidFill>
                <a:latin typeface="Times New Roman"/>
              </a:rPr>
              <a:t>Both frame the mature-semi multiple band (fwd ~14–30x) — useful as the floor under AVGO's non-AI semis, but neither carries AVGO's AI growth.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Times New Roman"/>
              </a:rPr>
              <a:t>Sources: Qualcomm Q2 FY26; TI Q1 2026; Macrotrends; GuruFocus (~May–June 2026). QCOM TTM NI excludes one-time tax benefit.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17365D"/>
                </a:solidFill>
                <a:latin typeface="Times New Roman"/>
              </a:rPr>
              <a:t>The software side: VMware (within AVGO) vs Oracle — the ~40% the semis comps miss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937760"/>
                <a:gridCol w="41148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Dimension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AVGO Infrastructure Software (VMware)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Oracle (ORCL) — anchor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Revenue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~$6.8B/qtr (~$27B/yr)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~$64.1B TTM (+22% YoY)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Profitability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~78% segment operating margin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~48% EBITDA margin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Growth profile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~+1% YoY (re-based post-acquisition; margin story)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+22% (OCI +84%) — AI-capex growth story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Balance sheet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Funded within AVGO; group de-levering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~$96B net debt, rising (+$30B raised Feb 2026)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Multiple lens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Annuity / FCF — high-margin, low-growth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EV/Rev ~12x, EV/EBITDA ~18x (growth premium)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480560"/>
            <a:ext cx="11247120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  <a:latin typeface="Times New Roman"/>
              </a:rPr>
              <a:t>• ORCL is the best LARGE-CAP infra-software anchor, but it's an imperfect proxy: it's now an AI-datacenter capex story (high growth, ballooning debt), whereas VMware is a low-growth, ~78%-margin annuity.</a:t>
            </a:r>
          </a:p>
          <a:p>
            <a:pPr algn="l"/>
            <a:r>
              <a:rPr sz="1200" b="0" i="0">
                <a:solidFill>
                  <a:srgbClr val="404040"/>
                </a:solidFill>
                <a:latin typeface="Times New Roman"/>
              </a:rPr>
              <a:t>• Net: VMware likely warrants a HIGHER-margin / LOWER-growth multiple than ORCL's blended profile — value it as an FCF annuity, not on ORCL's growth multiple.</a:t>
            </a:r>
          </a:p>
          <a:p>
            <a:pPr algn="l"/>
            <a:r>
              <a:rPr sz="1200" b="0" i="0">
                <a:solidFill>
                  <a:srgbClr val="404040"/>
                </a:solidFill>
                <a:latin typeface="Times New Roman"/>
              </a:rPr>
              <a:t>• Practical takeaway for the comps: keep ORCL as a memo, not in the semis median — and treat AVGO's software EBITDA as the low-volatility ballast under the AI growth option.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Times New Roman"/>
              </a:rPr>
              <a:t>Sources: Broadcom Q1 FY26 (software segment); Oracle Q3 FY26 (Mar 2026); Futurum; Macrotrends.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17365D"/>
                </a:solidFill>
                <a:latin typeface="Times New Roman"/>
              </a:rPr>
              <a:t>Comparative scoreboard — AVGO leads on margin/FCF; NVDA on growth; AVGO richest on fwd P/E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33856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554480"/>
                <a:gridCol w="1554480"/>
                <a:gridCol w="1554480"/>
                <a:gridCol w="1463040"/>
                <a:gridCol w="1463040"/>
                <a:gridCol w="1463040"/>
              </a:tblGrid>
              <a:tr h="6172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Dimension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AVGO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NVDA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AMD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MRVL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QCOM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TXN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7365D"/>
                          </a:solidFill>
                          <a:latin typeface="Times New Roman"/>
                        </a:rPr>
                        <a:t>Revenue scale (TTM)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●●○ $68B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●●● $254B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●○○ $37B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●○○ $9B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●●○ $44B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●○○ $18B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7365D"/>
                          </a:solidFill>
                          <a:latin typeface="Times New Roman"/>
                        </a:rPr>
                        <a:t>Revenue growth (MRQ)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●●○ +29%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●●● +85%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●●○ +38%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●●○ +28%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●○○ -3%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●○○ +19%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7365D"/>
                          </a:solidFill>
                          <a:latin typeface="Times New Roman"/>
                        </a:rPr>
                        <a:t>AI exposure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●●● ASIC+net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●●● GPU leader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●●○ #2 GPU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●●● ASIC #2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●○○ edge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●○○ content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7365D"/>
                          </a:solidFill>
                          <a:latin typeface="Times New Roman"/>
                        </a:rPr>
                        <a:t>Margin / FCF quality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●●● 68% EBITDA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●●● 69%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●○○ 22%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●●○ ~31%[E]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●●○ 31%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●●● 48%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7365D"/>
                          </a:solidFill>
                          <a:latin typeface="Times New Roman"/>
                        </a:rPr>
                        <a:t>Balance sheet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●●○ $52B net debt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●●● net cash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●●● net cash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●●○ $1.4B nd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●●○ $5.5B nd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●●○ $8B nd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7365D"/>
                          </a:solidFill>
                          <a:latin typeface="Times New Roman"/>
                        </a:rPr>
                        <a:t>Valuation (fwd P/E)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●○○ ~31x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●●○ ~26x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●○○ ~33x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●○○ ~48x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●●● ~14x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●●○ ~30x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7365D"/>
                          </a:solidFill>
                          <a:latin typeface="Times New Roman"/>
                        </a:rPr>
                        <a:t>Customer concentration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●○○ few hyperscalers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●●○ broad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●●○ broad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●○○ few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●●● diversified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04040"/>
                          </a:solidFill>
                          <a:latin typeface="Times New Roman"/>
                        </a:rPr>
                        <a:t>●●● diversified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Times New Roman"/>
              </a:rPr>
              <a:t>● = stronger / ○ = weaker on each axis (higher fwd P/E = weaker value score). Calibrated to AVGO-Comps-Analysis.xlsx.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17365D"/>
                </a:solidFill>
                <a:latin typeface="Times New Roman"/>
              </a:rPr>
              <a:t>Valuation I — every method puts fair value at or below the $460 market price</a:t>
            </a:r>
          </a:p>
        </p:txBody>
      </p:sp>
      <p:pic>
        <p:nvPicPr>
          <p:cNvPr id="4" name="Picture 3" descr="footb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7680960" cy="37757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1280160"/>
            <a:ext cx="3657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17365D"/>
                </a:solidFill>
                <a:latin typeface="Times New Roman"/>
              </a:rPr>
              <a:t>How to read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783080"/>
            <a:ext cx="3657600" cy="457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>• DCF base ($264) and the full WACC×g grid ($200–311) sit well below $482.</a:t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/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>• Comps (semis-median EV/EBITDA and fwd P/E applied to AVGO) imply ~$320–500 — AVGO trades at/above the cohort post-Q2.</a:t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/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>• Only the DCF BULL case (mgmt's FY27 AI fully delivered) reaches the $482 zone.</a:t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/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>• Conclusion: even after Q2 +48% &amp; Q3 guide +84%, the market still prices the bull case as the base case.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Times New Roman"/>
              </a:rPr>
              <a:t>Football field combines DCF (AVGO-Model.xlsx) and comps (AVGO-Comps-Analysis.xlsx). Ranges are illustrative of method spread.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17365D"/>
                </a:solidFill>
                <a:latin typeface="Times New Roman"/>
              </a:rPr>
              <a:t>Valuation II — base-case DCF $264/share; the entire WACC × growth grid is below $482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51206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</a:tblGrid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DCF bridge (base, post-Q2 refresh)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$M / $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PV of explicit FCF (FY26–30)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269,084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PV of terminal value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1,030,519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Enterprise value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1,299,603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(–) Net debt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(49,000)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Equity value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1,250,603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÷ Diluted shares (M)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4,730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Implied value / share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$264.40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Current price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$481.62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Upside / (downside)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(45.1%)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0" y="1280160"/>
            <a:ext cx="58521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17365D"/>
                </a:solidFill>
                <a:latin typeface="Times New Roman"/>
              </a:rPr>
              <a:t>Sensitivity — implied $/share (WACC × terminal g)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52160" y="1691640"/>
          <a:ext cx="5897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868680"/>
                <a:gridCol w="868680"/>
                <a:gridCol w="868680"/>
                <a:gridCol w="868680"/>
                <a:gridCol w="868680"/>
              </a:tblGrid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</a:rPr>
                        <a:t>WACC ↓ / g →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</a:rPr>
                        <a:t>2.5%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</a:rPr>
                        <a:t>3.0%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</a:rPr>
                        <a:t>3.5%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</a:rPr>
                        <a:t>4.0%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Times New Roman"/>
                        </a:rPr>
                        <a:t>4.5%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8.5%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275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296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323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355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395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9.0%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252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270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291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317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348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9.5% (base)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232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247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265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286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311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10.0%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215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228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243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260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281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365D"/>
                          </a:solidFill>
                          <a:latin typeface="Times New Roman"/>
                        </a:rPr>
                        <a:t>10.5%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200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211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224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239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04040"/>
                          </a:solidFill>
                          <a:latin typeface="Times New Roman"/>
                        </a:rPr>
                        <a:t>256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52160" y="4572000"/>
            <a:ext cx="5943600" cy="1737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>• Center cell ($265) = base case. Terminal value is ~79% of EV — valuation is very sensitive to WACC/g.</a:t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>• Even the most generous corner (WACC 8.5% / g 4.5%) = $395 on base FCF.</a:t>
            </a:r>
          </a:p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>• To reach $482 you ALSO need FCF above base — i.e., mgmt's full $100B+ FY27 AI delivered (the bull case).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Times New Roman"/>
              </a:rPr>
              <a:t>Source: AVGO-Model.xlsx (validated, 0 formula errors). Base case haircuts mgmt FY27 AI guidance ~24% for execution / OpenAI-financing risk.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17365D"/>
                </a:solidFill>
                <a:latin typeface="Times New Roman"/>
              </a:rPr>
              <a:t>Strategic synthesis — Moat: design lock-in + IP + FCF · Risk: concentration + valuation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88720"/>
                <a:gridCol w="1188720"/>
                <a:gridCol w="1188720"/>
                <a:gridCol w="548640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Moat type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AVGO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NVDA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MRVL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What it means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Switching costs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Strong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Strong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Mod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Custom-silicon re-spin + VMware lock-in are sticky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Intangibles (IP)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Strong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Strong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Mod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SerDes/optical/analog IP; CUDA is NVDA's equivalent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Scale economies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Strong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Strong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Weak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R&amp;D + supply scale; AVGO + NVDA dominate spend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Network effects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Weak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Strong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Weak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NVDA's CUDA ecosystem is the real network effect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Cost / capital discipline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Strong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Mod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Mod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Hock Tan FCF + de-levering playbook is a differentiator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54880"/>
            <a:ext cx="11247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Net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20640"/>
            <a:ext cx="11247120" cy="1280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  <a:latin typeface="Times New Roman"/>
              </a:rPr>
              <a:t>Durable advantages: (i) ~70% custom-ASIC design share with multi-gen lock-in, (ii) leading open-Ethernet AI networking, (iii) a ~$27B/yr ~78%-margin VMware annuity funding capital return.</a:t>
            </a:r>
          </a:p>
          <a:p>
            <a:pPr algn="l"/>
            <a:r>
              <a:rPr sz="1200" b="0" i="0">
                <a:solidFill>
                  <a:srgbClr val="404040"/>
                </a:solidFill>
                <a:latin typeface="Times New Roman"/>
              </a:rPr>
              <a:t>Structural vulnerabilities: (i) AI revenue concentrated in a few hyperscaler programs (OpenAI financing snag is live), (ii) Google multi-sourcing dilutes content, (iii) valuation leaves no margin of safety — $460 already prices the bull AI ramp.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Times New Roman"/>
              </a:rPr>
              <a:t>Moat framework per `competitive-analysis` Step 9. Strong / Moderate (Mod) / Weak relative to peers.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17365D"/>
                </a:solidFill>
                <a:latin typeface="Times New Roman"/>
              </a:rPr>
              <a:t>Bull / base / bear — anchored to the DCF: the market price embeds the bull case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22960"/>
                <a:gridCol w="5120640"/>
                <a:gridCol w="4114800"/>
              </a:tblGrid>
              <a:tr h="868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Scenario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Prob.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Key drivers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DCF value / read</a:t>
                      </a:r>
                    </a:p>
                  </a:txBody>
                  <a:tcPr marL="45720" marR="45720" marT="27432" marB="27432">
                    <a:solidFill>
                      <a:srgbClr val="17365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Bull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30%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Mgmt's $100B+ FY27 AI delivered &amp; sustained; OpenAI deal funded; networking share gains; WACC ~8.5%, g ~4.5%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~$470–520 — justifies (and exceeds) the $460 price; this is what the market currently embeds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Base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45%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AI FY27 ~$76B (mgmt guidance haircut ~24%); software annuity steady; WACC 9.5%, g 3.5%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~$264 — high-quality compounder, but ~45% below the current price</a:t>
                      </a:r>
                    </a:p>
                  </a:txBody>
                  <a:tcPr marL="45720" marR="45720" marT="27432" marB="27432">
                    <a:solidFill>
                      <a:srgbClr val="F2F2F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7365D"/>
                          </a:solidFill>
                          <a:latin typeface="Times New Roman"/>
                        </a:rPr>
                        <a:t>Bear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25%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AI digestion into 2027–28; OpenAI program stalls; Google multi-sourcing erodes content; WACC ~10.5%, g ~2.5%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04040"/>
                          </a:solidFill>
                          <a:latin typeface="Times New Roman"/>
                        </a:rPr>
                        <a:t>~$185–210 — multiple compresses as growth normalizes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Signposts that move the weighting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40680"/>
            <a:ext cx="1124712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  <a:latin typeface="Times New Roman"/>
              </a:rPr>
              <a:t>1) OpenAI $18B financing structure resolved or not   2) Q2/Q3 FY26 AI revenue vs the $10.7B→ramp guide   3) hyperscaler 2027 capex guidance (acceleration vs digestion)   4) any Google/Meta program re-sourcing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Times New Roman"/>
              </a:rPr>
              <a:t>Probabilities are author's judgment, not consensus. DCF values from AVGO-Model.xlsx sensitivity + bull-FCF overlay.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>
                <a:solidFill>
                  <a:srgbClr val="17365D"/>
                </a:solidFill>
                <a:latin typeface="Times New Roman"/>
              </a:rPr>
              <a:t>Decision frame &amp;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i="0">
                <a:solidFill>
                  <a:srgbClr val="17365D"/>
                </a:solidFill>
                <a:latin typeface="Times New Roman"/>
              </a:rPr>
              <a:t>Four ways to express a 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64592" cy="868680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17365D"/>
                </a:solidFill>
                <a:latin typeface="Times New Roman"/>
              </a:rPr>
              <a:t>Own quality, but wait for a pullback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107899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>Best-in-class franchise; no margin of safety at $460. Accumulate toward the base-case zone (high-$200s–low-$300s) or on AI-digestion scares.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87168"/>
            <a:ext cx="164592" cy="86868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87168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CC0000"/>
                </a:solidFill>
                <a:latin typeface="Times New Roman"/>
              </a:rPr>
              <a:t>Pair trade: long AVGO / short a richer AI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34640"/>
            <a:ext cx="107899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>Express the quality view while hedging the AI-multiple: long AVGO vs short a higher-beta/expensive AI name on relative valuation.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419856"/>
            <a:ext cx="164592" cy="86868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19856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404040"/>
                </a:solidFill>
                <a:latin typeface="Times New Roman"/>
              </a:rPr>
              <a:t>Play the theme via MRVL (higher beta)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67328"/>
            <a:ext cx="107899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>Same custom-ASIC thesis with more torque (and more risk); smaller, re-rating, single net-debt name.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52544"/>
            <a:ext cx="164592" cy="86868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35254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BFBFBF"/>
                </a:solidFill>
                <a:latin typeface="Times New Roman"/>
              </a:rPr>
              <a:t>Trim / avoid here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700016"/>
            <a:ext cx="107899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Times New Roman"/>
              </a:rPr>
              <a:t>If you believe 2027–28 AI digestion + OpenAI-financing risk, the price already discounts the bull case — trim into strength.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394960"/>
            <a:ext cx="112471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17365D"/>
                </a:solidFill>
                <a:latin typeface="Times New Roman"/>
              </a:rPr>
              <a:t>Sources &amp; caveats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15000"/>
            <a:ext cx="1124712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1">
                <a:solidFill>
                  <a:srgbClr val="404040"/>
                </a:solidFill>
                <a:latin typeface="Times New Roman"/>
              </a:rPr>
              <a:t>AVGO Q1 FY26 &amp; FY23–25 SEC filings/IR; NVDA/AMD/MRVL/QCOM/TXN/ORCL latest 10-Q/IR; StockAnalysis/GuruFocus/Macrotrends (~June 2026); CNBC, The Information, Goldman, Dell'Oro, Allianz for AI-capex &amp; customer detail.</a:t>
            </a:r>
          </a:p>
          <a:p>
            <a:pPr algn="l"/>
            <a:r>
              <a:rPr sz="1000" b="0" i="1">
                <a:solidFill>
                  <a:srgbClr val="404040"/>
                </a:solidFill>
                <a:latin typeface="Times New Roman"/>
              </a:rPr>
              <a:t>MCP terminal connectors (CapIQ/FactSet) NOT configured — public sources used, [E] flags in workbooks. AI/non-AI segment split partly estimated. Research &amp; decision-framing only — NOT investment advice; cross-check a primary terminal before acting.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1">
                <a:solidFill>
                  <a:srgbClr val="BFBFBF"/>
                </a:solidFill>
                <a:latin typeface="Times New Roman"/>
              </a:rPr>
              <a:t>Built per competitive-analysis + comps-analysis + 3-statement-model + dcf-model skills. Companions: AVGO-Comps-Analysis.xlsx, AVGO-Model.xlsx.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