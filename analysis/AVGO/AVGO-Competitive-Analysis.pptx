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0"/>
          </a:xfrm>
          <a:prstGeom prst="rect">
            <a:avLst/>
          </a:prstGeom>
          <a:solidFill>
            <a:srgbClr val="17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0"/>
            <a:ext cx="12191695" cy="109728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914400"/>
            <a:ext cx="10972800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800" b="0" i="1">
                <a:solidFill>
                  <a:srgbClr val="FFFFFF"/>
                </a:solidFill>
                <a:latin typeface="Times New Roman"/>
              </a:rPr>
              <a:t>NASDAQ: AVGO — Investment Decision Frame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972800" cy="12801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5400" b="1" i="0">
                <a:solidFill>
                  <a:srgbClr val="FFFFFF"/>
                </a:solidFill>
                <a:latin typeface="Times New Roman"/>
              </a:rPr>
              <a:t>Broadcom Inc.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743200"/>
            <a:ext cx="10972800" cy="8229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600" b="0" i="0">
                <a:solidFill>
                  <a:srgbClr val="CC0000"/>
                </a:solidFill>
                <a:latin typeface="Times New Roman"/>
              </a:rPr>
              <a:t>Competitive Landscape, Comps &amp; DCF Valuation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4572000"/>
            <a:ext cx="10972800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00" b="0" i="1">
                <a:solidFill>
                  <a:srgbClr val="404040"/>
                </a:solidFill>
                <a:latin typeface="Times New Roman"/>
              </a:rPr>
              <a:t>As of June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5029200"/>
            <a:ext cx="10972800" cy="1463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0" i="0">
                <a:solidFill>
                  <a:srgbClr val="404040"/>
                </a:solidFill>
                <a:latin typeface="Times New Roman"/>
              </a:rPr>
              <a:t>Peer set: NVIDIA · AMD · Marvell · Qualcomm · Texas Instruments  +  Oracle (software anchor)</a:t>
            </a:r>
          </a:p>
          <a:p>
            <a:pPr algn="l"/>
            <a:r>
              <a:rPr sz="1300" b="0" i="0">
                <a:solidFill>
                  <a:srgbClr val="404040"/>
                </a:solidFill>
                <a:latin typeface="Times New Roman"/>
              </a:rPr>
              <a:t>Built with deep-research + competitive-analysis + comps-analysis + 3-statement-model + dcf-model skills</a:t>
            </a:r>
          </a:p>
          <a:p>
            <a:pPr algn="l"/>
            <a:r>
              <a:rPr sz="1300" b="0" i="0">
                <a:solidFill>
                  <a:srgbClr val="404040"/>
                </a:solidFill>
                <a:latin typeface="Times New Roman"/>
              </a:rPr>
              <a:t>Companion files: AVGO-Comps-Analysis.xlsx · AVGO-Model.xlsx (3-statement + DCF)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1247120" cy="8686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400" b="1" i="0">
                <a:solidFill>
                  <a:srgbClr val="17365D"/>
                </a:solidFill>
                <a:latin typeface="Times New Roman"/>
              </a:rPr>
              <a:t>Best-in-class AI franchise — but at ~$460 the stock already prices the bull AI ramp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34440"/>
            <a:ext cx="2194560" cy="10972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00" b="1" i="0">
                <a:solidFill>
                  <a:srgbClr val="17365D"/>
                </a:solidFill>
                <a:latin typeface="Times New Roman"/>
              </a:rPr>
              <a:t>1. The franchise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834640" y="1234440"/>
            <a:ext cx="8778240" cy="10972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50" b="0" i="0">
                <a:solidFill>
                  <a:srgbClr val="404040"/>
                </a:solidFill>
                <a:latin typeface="Times New Roman"/>
              </a:rPr>
              <a:t>AVGO is the #1 custom AI-silicon (XPU/ASIC) design house (~70% share) plus the leading AI networking franchise (Tomahawk/Jericho). Q1 FY26: revenue $19.3B (+29%), AI revenue $8.4B (+106%), adj. EBITDA 68%. $73B AI backlog; 6 committed hyperscaler customers.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478024"/>
            <a:ext cx="2194560" cy="10972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00" b="1" i="0">
                <a:solidFill>
                  <a:srgbClr val="17365D"/>
                </a:solidFill>
                <a:latin typeface="Times New Roman"/>
              </a:rPr>
              <a:t>2. The FCF engine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834640" y="2478024"/>
            <a:ext cx="8778240" cy="10972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50" b="0" i="0">
                <a:solidFill>
                  <a:srgbClr val="404040"/>
                </a:solidFill>
                <a:latin typeface="Times New Roman"/>
              </a:rPr>
              <a:t>VMware turned Infrastructure Software into a $6.8B/quarter, ~78%-operating-margin annuity. Consolidated FCF ~$28.9B TTM (~42% margin). Debt down to ~$66B from a ~$74B post-VMware peak; dividend raised ~10%.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721608"/>
            <a:ext cx="2194560" cy="10972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00" b="1" i="0">
                <a:solidFill>
                  <a:srgbClr val="17365D"/>
                </a:solidFill>
                <a:latin typeface="Times New Roman"/>
              </a:rPr>
              <a:t>3. The valuation problem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834640" y="3721608"/>
            <a:ext cx="8778240" cy="10972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50" b="0" i="0">
                <a:solidFill>
                  <a:srgbClr val="404040"/>
                </a:solidFill>
                <a:latin typeface="Times New Roman"/>
              </a:rPr>
              <a:t>Our base-case DCF — which HAIRCUTS mgmt's '$100B+ AI in 2027' guidance ~24% for execution / OpenAI-financing risk — yields ~$246/share. The ENTIRE WACC×g sensitivity grid ($185–$289) sits below the ~$460 market price.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4965192"/>
            <a:ext cx="2194560" cy="10972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00" b="1" i="0">
                <a:solidFill>
                  <a:srgbClr val="17365D"/>
                </a:solidFill>
                <a:latin typeface="Times New Roman"/>
              </a:rPr>
              <a:t>4. The read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834640" y="4965192"/>
            <a:ext cx="8778240" cy="10972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50" b="0" i="0">
                <a:solidFill>
                  <a:srgbClr val="404040"/>
                </a:solidFill>
                <a:latin typeface="Times New Roman"/>
              </a:rPr>
              <a:t>To justify $460 you need mgmt's full AI guidance delivered AND a low discount rate (the bull corner ≈ $470–520). High-quality compounder, but the margin of safety is gone at today's price. Long on pullbacks / pair vs MRVL; trim into strength.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510528"/>
            <a:ext cx="112471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 i="1">
                <a:solidFill>
                  <a:srgbClr val="BFBFBF"/>
                </a:solidFill>
                <a:latin typeface="Times New Roman"/>
              </a:rPr>
              <a:t>Sources: AVGO Q1 FY26 IR (Mar 2026); AVGO-Model.xlsx (base-case DCF); The Information (May 2026, OpenAI financing). Research, not investment advice.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1247120" cy="8686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400" b="1" i="0">
                <a:solidFill>
                  <a:srgbClr val="17365D"/>
                </a:solidFill>
                <a:latin typeface="Times New Roman"/>
              </a:rPr>
              <a:t>The question this analysis answers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45920"/>
            <a:ext cx="10972800" cy="10972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100" b="0" i="1">
                <a:solidFill>
                  <a:srgbClr val="17365D"/>
                </a:solidFill>
                <a:latin typeface="Times New Roman"/>
              </a:rPr>
              <a:t>"Broadcom is one of the highest-quality AI franchises in the market — but at ~$460 (~31x forward earnings, ~$2.2T), how much of the AI bull case is already in the price, and what has to be true to justify owning it here?"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383280"/>
            <a:ext cx="1097280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00" b="1" i="0">
                <a:solidFill>
                  <a:srgbClr val="404040"/>
                </a:solidFill>
                <a:latin typeface="Times New Roman"/>
              </a:rPr>
              <a:t>We test that across five lenses: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840480"/>
            <a:ext cx="1097280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0" i="0">
                <a:solidFill>
                  <a:srgbClr val="404040"/>
                </a:solidFill>
                <a:latin typeface="Times New Roman"/>
              </a:rPr>
              <a:t>(1) Market — is the hyperscaler AI-capex cycle still supportive?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261104"/>
            <a:ext cx="1097280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0" i="0">
                <a:solidFill>
                  <a:srgbClr val="404040"/>
                </a:solidFill>
                <a:latin typeface="Times New Roman"/>
              </a:rPr>
              <a:t>(2) Competitive — how durable is AVGO's custom-ASIC + networking position vs NVDA, AMD, MRVL?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4681728"/>
            <a:ext cx="1097280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0" i="0">
                <a:solidFill>
                  <a:srgbClr val="404040"/>
                </a:solidFill>
                <a:latin typeface="Times New Roman"/>
              </a:rPr>
              <a:t>(3) Financial (comps) — how does AVGO screen vs the semis cohort + ORCL software anchor?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5102352"/>
            <a:ext cx="1097280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0" i="0">
                <a:solidFill>
                  <a:srgbClr val="404040"/>
                </a:solidFill>
                <a:latin typeface="Times New Roman"/>
              </a:rPr>
              <a:t>(4) Intrinsic (DCF) — what is AVGO worth on a base case, and what does $460 imply?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5522976"/>
            <a:ext cx="1097280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0" i="0">
                <a:solidFill>
                  <a:srgbClr val="404040"/>
                </a:solidFill>
                <a:latin typeface="Times New Roman"/>
              </a:rPr>
              <a:t>(5) Decision — bull/base/bear and the cleanest way to express a view.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510528"/>
            <a:ext cx="112471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 i="1">
                <a:solidFill>
                  <a:srgbClr val="BFBFBF"/>
                </a:solidFill>
                <a:latin typeface="Times New Roman"/>
              </a:rPr>
              <a:t>Framework per the `competitive-analysis` skill; valuation per `3-statement-model` + `dcf-model`.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1247120" cy="8686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400" b="1" i="0">
                <a:solidFill>
                  <a:srgbClr val="17365D"/>
                </a:solidFill>
                <a:latin typeface="Times New Roman"/>
              </a:rPr>
              <a:t>Hyperscaler AI capex ~$630–725B in 2026, $1T+ by 2027 — mix shifting to custom silicon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234440"/>
          <a:ext cx="7589520" cy="420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560320"/>
                <a:gridCol w="2286000"/>
              </a:tblGrid>
              <a:tr h="600891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Times New Roman"/>
                        </a:rPr>
                        <a:t>Driver</a:t>
                      </a:r>
                    </a:p>
                  </a:txBody>
                  <a:tcPr marL="45720" marR="45720" marT="27432" marB="27432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Times New Roman"/>
                        </a:rPr>
                        <a:t>Data point</a:t>
                      </a:r>
                    </a:p>
                  </a:txBody>
                  <a:tcPr marL="45720" marR="45720" marT="27432" marB="27432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Times New Roman"/>
                        </a:rPr>
                        <a:t>Source / note</a:t>
                      </a:r>
                    </a:p>
                  </a:txBody>
                  <a:tcPr marL="45720" marR="45720" marT="27432" marB="27432">
                    <a:solidFill>
                      <a:srgbClr val="17365D"/>
                    </a:solidFill>
                  </a:tcPr>
                </a:tc>
              </a:tr>
              <a:tr h="600891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7365D"/>
                          </a:solidFill>
                          <a:latin typeface="Times New Roman"/>
                        </a:rPr>
                        <a:t>Big-4 capex 2025A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404040"/>
                          </a:solidFill>
                          <a:latin typeface="Times New Roman"/>
                        </a:rPr>
                        <a:t>~$388–410B (record)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404040"/>
                          </a:solidFill>
                          <a:latin typeface="Times New Roman"/>
                        </a:rPr>
                        <a:t>MSFT, GOOGL, AMZN, META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</a:tr>
              <a:tr h="600891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7365D"/>
                          </a:solidFill>
                          <a:latin typeface="Times New Roman"/>
                        </a:rPr>
                        <a:t>Big-4 capex 2026E</a:t>
                      </a:r>
                    </a:p>
                  </a:txBody>
                  <a:tcPr marL="45720" marR="45720" marT="27432" marB="27432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404040"/>
                          </a:solidFill>
                          <a:latin typeface="Times New Roman"/>
                        </a:rPr>
                        <a:t>~$630–725B (+62–77%)</a:t>
                      </a:r>
                    </a:p>
                  </a:txBody>
                  <a:tcPr marL="45720" marR="45720" marT="27432" marB="27432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404040"/>
                          </a:solidFill>
                          <a:latin typeface="Times New Roman"/>
                        </a:rPr>
                        <a:t>CNBC / Tom's Hardware (range)</a:t>
                      </a:r>
                    </a:p>
                  </a:txBody>
                  <a:tcPr marL="45720" marR="45720" marT="27432" marB="27432">
                    <a:solidFill>
                      <a:srgbClr val="F2F2F2"/>
                    </a:solidFill>
                  </a:tcPr>
                </a:tc>
              </a:tr>
              <a:tr h="600891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7365D"/>
                          </a:solidFill>
                          <a:latin typeface="Times New Roman"/>
                        </a:rPr>
                        <a:t>Total compute capex 2026E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404040"/>
                          </a:solidFill>
                          <a:latin typeface="Times New Roman"/>
                        </a:rPr>
                        <a:t>~$1.04T (first trillion-$ yr)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404040"/>
                          </a:solidFill>
                          <a:latin typeface="Times New Roman"/>
                        </a:rPr>
                        <a:t>incl. Oracle, neoclouds, sovereigns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</a:tr>
              <a:tr h="600891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7365D"/>
                          </a:solidFill>
                          <a:latin typeface="Times New Roman"/>
                        </a:rPr>
                        <a:t>AI accelerator TAM</a:t>
                      </a:r>
                    </a:p>
                  </a:txBody>
                  <a:tcPr marL="45720" marR="45720" marT="27432" marB="27432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404040"/>
                          </a:solidFill>
                          <a:latin typeface="Times New Roman"/>
                        </a:rPr>
                        <a:t>~$200B → $500B+ by late-decade</a:t>
                      </a:r>
                    </a:p>
                  </a:txBody>
                  <a:tcPr marL="45720" marR="45720" marT="27432" marB="27432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404040"/>
                          </a:solidFill>
                          <a:latin typeface="Times New Roman"/>
                        </a:rPr>
                        <a:t>GPU + ASIC both growing</a:t>
                      </a:r>
                    </a:p>
                  </a:txBody>
                  <a:tcPr marL="45720" marR="45720" marT="27432" marB="27432">
                    <a:solidFill>
                      <a:srgbClr val="F2F2F2"/>
                    </a:solidFill>
                  </a:tcPr>
                </a:tc>
              </a:tr>
              <a:tr h="600891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7365D"/>
                          </a:solidFill>
                          <a:latin typeface="Times New Roman"/>
                        </a:rPr>
                        <a:t>Custom ASIC growth 2026E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404040"/>
                          </a:solidFill>
                          <a:latin typeface="Times New Roman"/>
                        </a:rPr>
                        <a:t>~+45% units vs ~+16% GPU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404040"/>
                          </a:solidFill>
                          <a:latin typeface="Times New Roman"/>
                        </a:rPr>
                        <a:t>ASIC units to surpass GPU by 2027 (Goldman)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</a:tr>
              <a:tr h="600894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7365D"/>
                          </a:solidFill>
                          <a:latin typeface="Times New Roman"/>
                        </a:rPr>
                        <a:t>AVGO + MRVL share of custom ASIC</a:t>
                      </a:r>
                    </a:p>
                  </a:txBody>
                  <a:tcPr marL="45720" marR="45720" marT="27432" marB="27432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404040"/>
                          </a:solidFill>
                          <a:latin typeface="Times New Roman"/>
                        </a:rPr>
                        <a:t>~95% of co-design market</a:t>
                      </a:r>
                    </a:p>
                  </a:txBody>
                  <a:tcPr marL="45720" marR="45720" marT="27432" marB="27432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404040"/>
                          </a:solidFill>
                          <a:latin typeface="Times New Roman"/>
                        </a:rPr>
                        <a:t>Tom's Hardware / Dell'Oro</a:t>
                      </a:r>
                    </a:p>
                  </a:txBody>
                  <a:tcPr marL="45720" marR="45720" marT="27432" marB="27432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8229600" y="1280160"/>
            <a:ext cx="3657600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1" i="0">
                <a:solidFill>
                  <a:srgbClr val="CC0000"/>
                </a:solidFill>
                <a:latin typeface="Times New Roman"/>
              </a:rPr>
              <a:t>The catch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0" y="1783080"/>
            <a:ext cx="3657600" cy="45720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0" i="0">
                <a:solidFill>
                  <a:srgbClr val="404040"/>
                </a:solidFill>
                <a:latin typeface="Times New Roman"/>
              </a:rPr>
              <a:t>• Capex growing ~46% faster than revenue — wider than the 2001 telecom-bust divergence (Allianz).</a:t>
            </a:r>
          </a:p>
          <a:p>
            <a:pPr algn="l"/>
            <a:r>
              <a:rPr sz="1100" b="0" i="0">
                <a:solidFill>
                  <a:srgbClr val="404040"/>
                </a:solidFill>
                <a:latin typeface="Times New Roman"/>
              </a:rPr>
              <a:t/>
            </a:r>
          </a:p>
          <a:p>
            <a:pPr algn="l"/>
            <a:r>
              <a:rPr sz="1100" b="0" i="0">
                <a:solidFill>
                  <a:srgbClr val="404040"/>
                </a:solidFill>
                <a:latin typeface="Times New Roman"/>
              </a:rPr>
              <a:t>• ~$400B/yr implied AI depreciation &gt; Big-4's combined profits.</a:t>
            </a:r>
          </a:p>
          <a:p>
            <a:pPr algn="l"/>
            <a:r>
              <a:rPr sz="1100" b="0" i="0">
                <a:solidFill>
                  <a:srgbClr val="404040"/>
                </a:solidFill>
                <a:latin typeface="Times New Roman"/>
              </a:rPr>
              <a:t/>
            </a:r>
          </a:p>
          <a:p>
            <a:pPr algn="l"/>
            <a:r>
              <a:rPr sz="1100" b="0" i="0">
                <a:solidFill>
                  <a:srgbClr val="404040"/>
                </a:solidFill>
                <a:latin typeface="Times New Roman"/>
              </a:rPr>
              <a:t>• Power is the binding constraint: Gartner sees ~40% of AI DCs power-limited by 2027.</a:t>
            </a:r>
          </a:p>
          <a:p>
            <a:pPr algn="l"/>
            <a:r>
              <a:rPr sz="1100" b="0" i="0">
                <a:solidFill>
                  <a:srgbClr val="404040"/>
                </a:solidFill>
                <a:latin typeface="Times New Roman"/>
              </a:rPr>
              <a:t/>
            </a:r>
          </a:p>
          <a:p>
            <a:pPr algn="l"/>
            <a:r>
              <a:rPr sz="1100" b="0" i="0">
                <a:solidFill>
                  <a:srgbClr val="404040"/>
                </a:solidFill>
                <a:latin typeface="Times New Roman"/>
              </a:rPr>
              <a:t>• Bull case intact near-term; digestion risk into 2027–28 is the key macro swing factor for AVGO.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510528"/>
            <a:ext cx="112471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 i="1">
                <a:solidFill>
                  <a:srgbClr val="BFBFBF"/>
                </a:solidFill>
                <a:latin typeface="Times New Roman"/>
              </a:rPr>
              <a:t>Sources: CNBC, Tom's Hardware, Goldman Sachs, Dell'Oro, Allianz, Gartner (2026). Figures are third-party estimates; ranges where sources diverge.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1247120" cy="8686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400" b="1" i="0">
                <a:solidFill>
                  <a:srgbClr val="17365D"/>
                </a:solidFill>
                <a:latin typeface="Times New Roman"/>
              </a:rPr>
              <a:t>Two businesses under one roof: a ~60% AI-led semis engine and a ~40% software FCF annuity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371600"/>
          <a:ext cx="1124712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/>
                <a:gridCol w="1371600"/>
                <a:gridCol w="1463040"/>
                <a:gridCol w="1463040"/>
                <a:gridCol w="1463040"/>
                <a:gridCol w="2560320"/>
              </a:tblGrid>
              <a:tr h="39624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Times New Roman"/>
                        </a:rPr>
                        <a:t>Segment (Q1 FY26)</a:t>
                      </a:r>
                    </a:p>
                  </a:txBody>
                  <a:tcPr marL="45720" marR="45720" marT="27432" marB="27432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Times New Roman"/>
                        </a:rPr>
                        <a:t>Revenue</a:t>
                      </a:r>
                    </a:p>
                  </a:txBody>
                  <a:tcPr marL="45720" marR="45720" marT="27432" marB="27432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Times New Roman"/>
                        </a:rPr>
                        <a:t>Mix</a:t>
                      </a:r>
                    </a:p>
                  </a:txBody>
                  <a:tcPr marL="45720" marR="45720" marT="27432" marB="27432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Times New Roman"/>
                        </a:rPr>
                        <a:t>Growth</a:t>
                      </a:r>
                    </a:p>
                  </a:txBody>
                  <a:tcPr marL="45720" marR="45720" marT="27432" marB="27432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Times New Roman"/>
                        </a:rPr>
                        <a:t>Op margin</a:t>
                      </a:r>
                    </a:p>
                  </a:txBody>
                  <a:tcPr marL="45720" marR="45720" marT="27432" marB="27432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Times New Roman"/>
                        </a:rPr>
                        <a:t>Role in thesis</a:t>
                      </a:r>
                    </a:p>
                  </a:txBody>
                  <a:tcPr marL="45720" marR="45720" marT="27432" marB="27432">
                    <a:solidFill>
                      <a:srgbClr val="17365D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7365D"/>
                          </a:solidFill>
                          <a:latin typeface="Times New Roman"/>
                        </a:rPr>
                        <a:t>Semiconductor Solutions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404040"/>
                          </a:solidFill>
                          <a:latin typeface="Times New Roman"/>
                        </a:rPr>
                        <a:t>$12.5B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404040"/>
                          </a:solidFill>
                          <a:latin typeface="Times New Roman"/>
                        </a:rPr>
                        <a:t>~65%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404040"/>
                          </a:solidFill>
                          <a:latin typeface="Times New Roman"/>
                        </a:rPr>
                        <a:t>+52% YoY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404040"/>
                          </a:solidFill>
                          <a:latin typeface="Times New Roman"/>
                        </a:rPr>
                        <a:t>~high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404040"/>
                          </a:solidFill>
                          <a:latin typeface="Times New Roman"/>
                        </a:rPr>
                        <a:t>AI ASIC + networking = the growth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7365D"/>
                          </a:solidFill>
                          <a:latin typeface="Times New Roman"/>
                        </a:rPr>
                        <a:t>  of which: AI semiconductors</a:t>
                      </a:r>
                    </a:p>
                  </a:txBody>
                  <a:tcPr marL="45720" marR="45720" marT="27432" marB="27432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404040"/>
                          </a:solidFill>
                          <a:latin typeface="Times New Roman"/>
                        </a:rPr>
                        <a:t>$8.4B</a:t>
                      </a:r>
                    </a:p>
                  </a:txBody>
                  <a:tcPr marL="45720" marR="45720" marT="27432" marB="27432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404040"/>
                          </a:solidFill>
                          <a:latin typeface="Times New Roman"/>
                        </a:rPr>
                        <a:t>~44% of total</a:t>
                      </a:r>
                    </a:p>
                  </a:txBody>
                  <a:tcPr marL="45720" marR="45720" marT="27432" marB="27432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404040"/>
                          </a:solidFill>
                          <a:latin typeface="Times New Roman"/>
                        </a:rPr>
                        <a:t>+106% YoY</a:t>
                      </a:r>
                    </a:p>
                  </a:txBody>
                  <a:tcPr marL="45720" marR="45720" marT="27432" marB="27432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404040"/>
                          </a:solidFill>
                          <a:latin typeface="Times New Roman"/>
                        </a:rPr>
                        <a:t>—</a:t>
                      </a:r>
                    </a:p>
                  </a:txBody>
                  <a:tcPr marL="45720" marR="45720" marT="27432" marB="27432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404040"/>
                          </a:solidFill>
                          <a:latin typeface="Times New Roman"/>
                        </a:rPr>
                        <a:t>The engine; Q2 guide $10.7B (+140%)</a:t>
                      </a:r>
                    </a:p>
                  </a:txBody>
                  <a:tcPr marL="45720" marR="45720" marT="27432" marB="27432">
                    <a:solidFill>
                      <a:srgbClr val="F2F2F2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7365D"/>
                          </a:solidFill>
                          <a:latin typeface="Times New Roman"/>
                        </a:rPr>
                        <a:t>  of which: non-AI semis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404040"/>
                          </a:solidFill>
                          <a:latin typeface="Times New Roman"/>
                        </a:rPr>
                        <a:t>$4.1B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404040"/>
                          </a:solidFill>
                          <a:latin typeface="Times New Roman"/>
                        </a:rPr>
                        <a:t>~21% of total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404040"/>
                          </a:solidFill>
                          <a:latin typeface="Times New Roman"/>
                        </a:rPr>
                        <a:t>~flat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404040"/>
                          </a:solidFill>
                          <a:latin typeface="Times New Roman"/>
                        </a:rPr>
                        <a:t>—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404040"/>
                          </a:solidFill>
                          <a:latin typeface="Times New Roman"/>
                        </a:rPr>
                        <a:t>Cyclical; Apple Wi-Fi insourcing a headwind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7365D"/>
                          </a:solidFill>
                          <a:latin typeface="Times New Roman"/>
                        </a:rPr>
                        <a:t>Infrastructure Software</a:t>
                      </a:r>
                    </a:p>
                  </a:txBody>
                  <a:tcPr marL="45720" marR="45720" marT="27432" marB="27432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404040"/>
                          </a:solidFill>
                          <a:latin typeface="Times New Roman"/>
                        </a:rPr>
                        <a:t>$6.8B</a:t>
                      </a:r>
                    </a:p>
                  </a:txBody>
                  <a:tcPr marL="45720" marR="45720" marT="27432" marB="27432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404040"/>
                          </a:solidFill>
                          <a:latin typeface="Times New Roman"/>
                        </a:rPr>
                        <a:t>~35%</a:t>
                      </a:r>
                    </a:p>
                  </a:txBody>
                  <a:tcPr marL="45720" marR="45720" marT="27432" marB="27432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404040"/>
                          </a:solidFill>
                          <a:latin typeface="Times New Roman"/>
                        </a:rPr>
                        <a:t>+1% YoY</a:t>
                      </a:r>
                    </a:p>
                  </a:txBody>
                  <a:tcPr marL="45720" marR="45720" marT="27432" marB="27432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404040"/>
                          </a:solidFill>
                          <a:latin typeface="Times New Roman"/>
                        </a:rPr>
                        <a:t>78%</a:t>
                      </a:r>
                    </a:p>
                  </a:txBody>
                  <a:tcPr marL="45720" marR="45720" marT="27432" marB="27432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404040"/>
                          </a:solidFill>
                          <a:latin typeface="Times New Roman"/>
                        </a:rPr>
                        <a:t>VMware annuity = the FCF / margin</a:t>
                      </a:r>
                    </a:p>
                  </a:txBody>
                  <a:tcPr marL="45720" marR="45720" marT="27432" marB="27432">
                    <a:solidFill>
                      <a:srgbClr val="F2F2F2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7365D"/>
                          </a:solidFill>
                          <a:latin typeface="Times New Roman"/>
                        </a:rPr>
                        <a:t>Total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404040"/>
                          </a:solidFill>
                          <a:latin typeface="Times New Roman"/>
                        </a:rPr>
                        <a:t>$19.3B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404040"/>
                          </a:solidFill>
                          <a:latin typeface="Times New Roman"/>
                        </a:rPr>
                        <a:t>100%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404040"/>
                          </a:solidFill>
                          <a:latin typeface="Times New Roman"/>
                        </a:rPr>
                        <a:t>+29% YoY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404040"/>
                          </a:solidFill>
                          <a:latin typeface="Times New Roman"/>
                        </a:rPr>
                        <a:t>66% (non-GAAP)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404040"/>
                          </a:solidFill>
                          <a:latin typeface="Times New Roman"/>
                        </a:rPr>
                        <a:t>Adj. EBITDA $13.1B (68%)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57200" y="4114800"/>
            <a:ext cx="11247120" cy="21031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50" b="0" i="0">
                <a:solidFill>
                  <a:srgbClr val="404040"/>
                </a:solidFill>
                <a:latin typeface="Times New Roman"/>
              </a:rPr>
              <a:t>• The semis engine is what re-rates the stock — AI revenue +106% with a $73B backlog and 'line of sight to $100B+ AI in FY27'.</a:t>
            </a:r>
          </a:p>
          <a:p>
            <a:pPr algn="l"/>
            <a:r>
              <a:rPr sz="1250" b="0" i="0">
                <a:solidFill>
                  <a:srgbClr val="404040"/>
                </a:solidFill>
                <a:latin typeface="Times New Roman"/>
              </a:rPr>
              <a:t>• The software annuity (78% operating margin, ~$27B/yr) is what de-risks it — recurring, high-margin cash funding debt paydown + buybacks.</a:t>
            </a:r>
          </a:p>
          <a:p>
            <a:pPr algn="l"/>
            <a:r>
              <a:rPr sz="1250" b="0" i="0">
                <a:solidFill>
                  <a:srgbClr val="404040"/>
                </a:solidFill>
                <a:latin typeface="Times New Roman"/>
              </a:rPr>
              <a:t>• This bifurcation is why the comps need a software anchor (ORCL) alongside the semis cohort — neither lens alone captures AVGO.</a:t>
            </a:r>
          </a:p>
          <a:p>
            <a:pPr algn="l"/>
            <a:r>
              <a:rPr sz="1250" b="0" i="0">
                <a:solidFill>
                  <a:srgbClr val="404040"/>
                </a:solidFill>
                <a:latin typeface="Times New Roman"/>
              </a:rPr>
              <a:t>• Caveat: AVGO reports ONE Semiconductor segment; the AI / non-AI split is per management commentary, partly estimated.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510528"/>
            <a:ext cx="112471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 i="1">
                <a:solidFill>
                  <a:srgbClr val="BFBFBF"/>
                </a:solidFill>
                <a:latin typeface="Times New Roman"/>
              </a:rPr>
              <a:t>Source: Broadcom Q1 FY26 earnings release (Mar 2026). Op margins are segment-level; consolidated 66% is non-GAAP.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1247120" cy="8686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400" b="1" i="0">
                <a:solidFill>
                  <a:srgbClr val="17365D"/>
                </a:solidFill>
                <a:latin typeface="Times New Roman"/>
              </a:rPr>
              <a:t>Broadcom profile — AI inflection with a fortress FCF profile and de-levering balance sheet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234440"/>
          <a:ext cx="5669280" cy="4937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17520"/>
                <a:gridCol w="2651760"/>
              </a:tblGrid>
              <a:tr h="41148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Times New Roman"/>
                        </a:rPr>
                        <a:t>Metric</a:t>
                      </a:r>
                    </a:p>
                  </a:txBody>
                  <a:tcPr marL="45720" marR="45720" marT="27432" marB="27432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Times New Roman"/>
                        </a:rPr>
                        <a:t>Value</a:t>
                      </a:r>
                    </a:p>
                  </a:txBody>
                  <a:tcPr marL="45720" marR="45720" marT="27432" marB="27432">
                    <a:solidFill>
                      <a:srgbClr val="17365D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7365D"/>
                          </a:solidFill>
                          <a:latin typeface="Times New Roman"/>
                        </a:rPr>
                        <a:t>Q1 FY26 revenue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404040"/>
                          </a:solidFill>
                          <a:latin typeface="Times New Roman"/>
                        </a:rPr>
                        <a:t>$19.3B (+29% YoY)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7365D"/>
                          </a:solidFill>
                          <a:latin typeface="Times New Roman"/>
                        </a:rPr>
                        <a:t>Q1 FY26 AI revenue</a:t>
                      </a:r>
                    </a:p>
                  </a:txBody>
                  <a:tcPr marL="45720" marR="45720" marT="27432" marB="27432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404040"/>
                          </a:solidFill>
                          <a:latin typeface="Times New Roman"/>
                        </a:rPr>
                        <a:t>$8.4B (+106% YoY)</a:t>
                      </a:r>
                    </a:p>
                  </a:txBody>
                  <a:tcPr marL="45720" marR="45720" marT="27432" marB="27432">
                    <a:solidFill>
                      <a:srgbClr val="F2F2F2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7365D"/>
                          </a:solidFill>
                          <a:latin typeface="Times New Roman"/>
                        </a:rPr>
                        <a:t>Q2 FY26 guide (total / AI)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404040"/>
                          </a:solidFill>
                          <a:latin typeface="Times New Roman"/>
                        </a:rPr>
                        <a:t>$22.0B / $10.7B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7365D"/>
                          </a:solidFill>
                          <a:latin typeface="Times New Roman"/>
                        </a:rPr>
                        <a:t>FY26 revenue consensus [E]</a:t>
                      </a:r>
                    </a:p>
                  </a:txBody>
                  <a:tcPr marL="45720" marR="45720" marT="27432" marB="27432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404040"/>
                          </a:solidFill>
                          <a:latin typeface="Times New Roman"/>
                        </a:rPr>
                        <a:t>~$94.7B</a:t>
                      </a:r>
                    </a:p>
                  </a:txBody>
                  <a:tcPr marL="45720" marR="45720" marT="27432" marB="27432">
                    <a:solidFill>
                      <a:srgbClr val="F2F2F2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7365D"/>
                          </a:solidFill>
                          <a:latin typeface="Times New Roman"/>
                        </a:rPr>
                        <a:t>Adj. EBITDA margin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404040"/>
                          </a:solidFill>
                          <a:latin typeface="Times New Roman"/>
                        </a:rPr>
                        <a:t>68%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7365D"/>
                          </a:solidFill>
                          <a:latin typeface="Times New Roman"/>
                        </a:rPr>
                        <a:t>TTM free cash flow [E]</a:t>
                      </a:r>
                    </a:p>
                  </a:txBody>
                  <a:tcPr marL="45720" marR="45720" marT="27432" marB="27432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404040"/>
                          </a:solidFill>
                          <a:latin typeface="Times New Roman"/>
                        </a:rPr>
                        <a:t>~$28.9B (~42% margin)</a:t>
                      </a:r>
                    </a:p>
                  </a:txBody>
                  <a:tcPr marL="45720" marR="45720" marT="27432" marB="27432">
                    <a:solidFill>
                      <a:srgbClr val="F2F2F2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7365D"/>
                          </a:solidFill>
                          <a:latin typeface="Times New Roman"/>
                        </a:rPr>
                        <a:t>Total debt / cash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404040"/>
                          </a:solidFill>
                          <a:latin typeface="Times New Roman"/>
                        </a:rPr>
                        <a:t>$66.1B / $14.2B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7365D"/>
                          </a:solidFill>
                          <a:latin typeface="Times New Roman"/>
                        </a:rPr>
                        <a:t>Net debt [E]</a:t>
                      </a:r>
                    </a:p>
                  </a:txBody>
                  <a:tcPr marL="45720" marR="45720" marT="27432" marB="27432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404040"/>
                          </a:solidFill>
                          <a:latin typeface="Times New Roman"/>
                        </a:rPr>
                        <a:t>~$51.9B</a:t>
                      </a:r>
                    </a:p>
                  </a:txBody>
                  <a:tcPr marL="45720" marR="45720" marT="27432" marB="27432">
                    <a:solidFill>
                      <a:srgbClr val="F2F2F2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7365D"/>
                          </a:solidFill>
                          <a:latin typeface="Times New Roman"/>
                        </a:rPr>
                        <a:t>Market cap / EV [E]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404040"/>
                          </a:solidFill>
                          <a:latin typeface="Times New Roman"/>
                        </a:rPr>
                        <a:t>~$2.18T / ~$2.23T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7365D"/>
                          </a:solidFill>
                          <a:latin typeface="Times New Roman"/>
                        </a:rPr>
                        <a:t>P/E TTM / forward</a:t>
                      </a:r>
                    </a:p>
                  </a:txBody>
                  <a:tcPr marL="45720" marR="45720" marT="27432" marB="27432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404040"/>
                          </a:solidFill>
                          <a:latin typeface="Times New Roman"/>
                        </a:rPr>
                        <a:t>~80x / ~31x</a:t>
                      </a:r>
                    </a:p>
                  </a:txBody>
                  <a:tcPr marL="45720" marR="45720" marT="27432" marB="27432">
                    <a:solidFill>
                      <a:srgbClr val="F2F2F2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7365D"/>
                          </a:solidFill>
                          <a:latin typeface="Times New Roman"/>
                        </a:rPr>
                        <a:t>Dividend (FY26)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404040"/>
                          </a:solidFill>
                          <a:latin typeface="Times New Roman"/>
                        </a:rPr>
                        <a:t>$0.65/qtr (~0.55% yield, +10%)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pic>
        <p:nvPicPr>
          <p:cNvPr id="5" name="Picture 4" descr="ai_ram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5080" y="1371600"/>
            <a:ext cx="5486400" cy="2769913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355080" y="5120640"/>
            <a:ext cx="5486400" cy="12801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50" b="0" i="0">
                <a:solidFill>
                  <a:srgbClr val="404040"/>
                </a:solidFill>
                <a:latin typeface="Times New Roman"/>
              </a:rPr>
              <a:t>• AI revenue: $12.2B (FY24) → $20B (FY25) → base-case $48B/$76B (FY26/27E).</a:t>
            </a:r>
          </a:p>
          <a:p>
            <a:pPr algn="l"/>
            <a:r>
              <a:rPr sz="1050" b="0" i="0">
                <a:solidFill>
                  <a:srgbClr val="404040"/>
                </a:solidFill>
                <a:latin typeface="Times New Roman"/>
              </a:rPr>
              <a:t>• Red bars = our base case; navy marker = mgmt's $100B+ FY27 line-of-sight we haircut ~24%.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510528"/>
            <a:ext cx="112471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 i="1">
                <a:solidFill>
                  <a:srgbClr val="BFBFBF"/>
                </a:solidFill>
                <a:latin typeface="Times New Roman"/>
              </a:rPr>
              <a:t>Sources: AVGO Q1 FY26 8-K/IR; StockAnalysis.com (price, shares, debt ~June 1 2026); AVGO-Model.xlsx for projected AI revenue.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1247120" cy="8686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400" b="1" i="0">
                <a:solidFill>
                  <a:srgbClr val="17365D"/>
                </a:solidFill>
                <a:latin typeface="Times New Roman"/>
              </a:rPr>
              <a:t>Merchant GPU vs custom ASIC — the structural share shift is the heart of the AVGO bull case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371600"/>
          <a:ext cx="1124712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/>
                <a:gridCol w="4206240"/>
                <a:gridCol w="4663440"/>
              </a:tblGrid>
              <a:tr h="45720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Times New Roman"/>
                        </a:rPr>
                        <a:t>Dimension</a:t>
                      </a:r>
                    </a:p>
                  </a:txBody>
                  <a:tcPr marL="45720" marR="45720" marT="27432" marB="27432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Times New Roman"/>
                        </a:rPr>
                        <a:t>Merchant GPU (NVDA, AMD)</a:t>
                      </a:r>
                    </a:p>
                  </a:txBody>
                  <a:tcPr marL="45720" marR="45720" marT="27432" marB="27432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Times New Roman"/>
                        </a:rPr>
                        <a:t>Custom ASIC / XPU (AVGO, MRVL)</a:t>
                      </a:r>
                    </a:p>
                  </a:txBody>
                  <a:tcPr marL="45720" marR="45720" marT="27432" marB="27432">
                    <a:solidFill>
                      <a:srgbClr val="17365D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7365D"/>
                          </a:solidFill>
                          <a:latin typeface="Times New Roman"/>
                        </a:rPr>
                        <a:t>Who buys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404040"/>
                          </a:solidFill>
                          <a:latin typeface="Times New Roman"/>
                        </a:rPr>
                        <a:t>All AI builders; flexible, CUDA ecosystem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404040"/>
                          </a:solidFill>
                          <a:latin typeface="Times New Roman"/>
                        </a:rPr>
                        <a:t>Hyperscalers with scale to amortize design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7365D"/>
                          </a:solidFill>
                          <a:latin typeface="Times New Roman"/>
                        </a:rPr>
                        <a:t>2026E unit growth</a:t>
                      </a:r>
                    </a:p>
                  </a:txBody>
                  <a:tcPr marL="45720" marR="45720" marT="27432" marB="27432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404040"/>
                          </a:solidFill>
                          <a:latin typeface="Times New Roman"/>
                        </a:rPr>
                        <a:t>~+16%</a:t>
                      </a:r>
                    </a:p>
                  </a:txBody>
                  <a:tcPr marL="45720" marR="45720" marT="27432" marB="27432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404040"/>
                          </a:solidFill>
                          <a:latin typeface="Times New Roman"/>
                        </a:rPr>
                        <a:t>~+45% (nearly 3x)</a:t>
                      </a:r>
                    </a:p>
                  </a:txBody>
                  <a:tcPr marL="45720" marR="45720" marT="27432" marB="27432">
                    <a:solidFill>
                      <a:srgbClr val="F2F2F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7365D"/>
                          </a:solidFill>
                          <a:latin typeface="Times New Roman"/>
                        </a:rPr>
                        <a:t>Share of accelerators today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404040"/>
                          </a:solidFill>
                          <a:latin typeface="Times New Roman"/>
                        </a:rPr>
                        <a:t>~70% (NVDA) eroding at margin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404040"/>
                          </a:solidFill>
                          <a:latin typeface="Times New Roman"/>
                        </a:rPr>
                        <a:t>~15–25%, rising toward ~50% by 2027 (Goldman)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7365D"/>
                          </a:solidFill>
                          <a:latin typeface="Times New Roman"/>
                        </a:rPr>
                        <a:t>Economics</a:t>
                      </a:r>
                    </a:p>
                  </a:txBody>
                  <a:tcPr marL="45720" marR="45720" marT="27432" marB="27432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404040"/>
                          </a:solidFill>
                          <a:latin typeface="Times New Roman"/>
                        </a:rPr>
                        <a:t>High merchant margin; NVDA ~75% GM</a:t>
                      </a:r>
                    </a:p>
                  </a:txBody>
                  <a:tcPr marL="45720" marR="45720" marT="27432" marB="27432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404040"/>
                          </a:solidFill>
                          <a:latin typeface="Times New Roman"/>
                        </a:rPr>
                        <a:t>Lower unit margin, but sticky multi-gen design lock-in</a:t>
                      </a:r>
                    </a:p>
                  </a:txBody>
                  <a:tcPr marL="45720" marR="45720" marT="27432" marB="27432">
                    <a:solidFill>
                      <a:srgbClr val="F2F2F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7365D"/>
                          </a:solidFill>
                          <a:latin typeface="Times New Roman"/>
                        </a:rPr>
                        <a:t>AVGO position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404040"/>
                          </a:solidFill>
                          <a:latin typeface="Times New Roman"/>
                        </a:rPr>
                        <a:t>n/a (not merchant)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404040"/>
                          </a:solidFill>
                          <a:latin typeface="Times New Roman"/>
                        </a:rPr>
                        <a:t>~70% of custom AI accelerator DESIGN market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57200" y="4480560"/>
            <a:ext cx="11247120" cy="18288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0" i="0">
                <a:solidFill>
                  <a:srgbClr val="404040"/>
                </a:solidFill>
                <a:latin typeface="Times New Roman"/>
              </a:rPr>
              <a:t>• The bull case: as hyperscalers internalize inference on cost-optimized custom silicon, the ASIC pool grows ~3x faster than GPUs — and AVGO + MRVL own ~95% of that design market.</a:t>
            </a:r>
          </a:p>
          <a:p>
            <a:pPr algn="l"/>
            <a:r>
              <a:rPr sz="1200" b="0" i="0">
                <a:solidFill>
                  <a:srgbClr val="404040"/>
                </a:solidFill>
                <a:latin typeface="Times New Roman"/>
              </a:rPr>
              <a:t>• The bear case: AVGO's AI revenue leans on a handful of programs (Google, Meta, ByteDance, OpenAI, Anthropic, Apple). Google adding MediaTek/Marvell as second sources dilutes per-program content; an OpenAI/program slip is a large hole.</a:t>
            </a:r>
          </a:p>
          <a:p>
            <a:pPr algn="l"/>
            <a:r>
              <a:rPr sz="1200" b="0" i="0">
                <a:solidFill>
                  <a:srgbClr val="404040"/>
                </a:solidFill>
                <a:latin typeface="Times New Roman"/>
              </a:rPr>
              <a:t>• Networking is the under-appreciated leg: Tomahawk 6 (102.4 Tb/s) + Jericho4 position open-Ethernet against NVIDIA NVLink/Spectrum/InfiniBand — Ethernet has now passed InfiniBand in AI back-end share (Dell'Oro).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510528"/>
            <a:ext cx="112471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 i="1">
                <a:solidFill>
                  <a:srgbClr val="BFBFBF"/>
                </a:solidFill>
                <a:latin typeface="Times New Roman"/>
              </a:rPr>
              <a:t>Sources: Goldman Sachs, Dell'Oro, Tom's Hardware, The Next Platform (2026). ASIC/GPU mix figures are estimates.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1247120" cy="8686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400" b="1" i="0">
                <a:solidFill>
                  <a:srgbClr val="17365D"/>
                </a:solidFill>
                <a:latin typeface="Times New Roman"/>
              </a:rPr>
              <a:t>AVGO moat — custom-silicon switching costs + IP + a $73B backlog + VMware lock-in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234440"/>
          <a:ext cx="11247120" cy="4846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08960"/>
                <a:gridCol w="8138160"/>
              </a:tblGrid>
              <a:tr h="60579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Times New Roman"/>
                        </a:rPr>
                        <a:t>Layer</a:t>
                      </a:r>
                    </a:p>
                  </a:txBody>
                  <a:tcPr marL="45720" marR="45720" marT="27432" marB="27432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Times New Roman"/>
                        </a:rPr>
                        <a:t>Detail / KPI</a:t>
                      </a:r>
                    </a:p>
                  </a:txBody>
                  <a:tcPr marL="45720" marR="45720" marT="27432" marB="27432">
                    <a:solidFill>
                      <a:srgbClr val="17365D"/>
                    </a:solidFill>
                  </a:tcPr>
                </a:tc>
              </a:tr>
              <a:tr h="60579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7365D"/>
                          </a:solidFill>
                          <a:latin typeface="Times New Roman"/>
                        </a:rPr>
                        <a:t>Custom-silicon design lock-in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404040"/>
                          </a:solidFill>
                          <a:latin typeface="Times New Roman"/>
                        </a:rPr>
                        <a:t>Multi-year co-design with hyperscalers; switching cost is a full chip re-spin. ~70% of custom ASIC design market.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</a:tr>
              <a:tr h="60579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7365D"/>
                          </a:solidFill>
                          <a:latin typeface="Times New Roman"/>
                        </a:rPr>
                        <a:t>AI backlog visibility</a:t>
                      </a:r>
                    </a:p>
                  </a:txBody>
                  <a:tcPr marL="45720" marR="45720" marT="27432" marB="27432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404040"/>
                          </a:solidFill>
                          <a:latin typeface="Times New Roman"/>
                        </a:rPr>
                        <a:t>~$73B AI backlog; 'line of sight to $100B+ AI revenue in FY27' across 6 committed customers</a:t>
                      </a:r>
                    </a:p>
                  </a:txBody>
                  <a:tcPr marL="45720" marR="45720" marT="27432" marB="27432">
                    <a:solidFill>
                      <a:srgbClr val="F2F2F2"/>
                    </a:solidFill>
                  </a:tcPr>
                </a:tc>
              </a:tr>
              <a:tr h="60579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7365D"/>
                          </a:solidFill>
                          <a:latin typeface="Times New Roman"/>
                        </a:rPr>
                        <a:t>Confirmed anchor customers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404040"/>
                          </a:solidFill>
                          <a:latin typeface="Times New Roman"/>
                        </a:rPr>
                        <a:t>Google (TPU/Ironwood), Meta (MTIA), ByteDance; + Anthropic (~$21B), OpenAI (~10GW), Apple ('Baltra')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</a:tr>
              <a:tr h="60579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7365D"/>
                          </a:solidFill>
                          <a:latin typeface="Times New Roman"/>
                        </a:rPr>
                        <a:t>AI networking franchise</a:t>
                      </a:r>
                    </a:p>
                  </a:txBody>
                  <a:tcPr marL="45720" marR="45720" marT="27432" marB="27432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404040"/>
                          </a:solidFill>
                          <a:latin typeface="Times New Roman"/>
                        </a:rPr>
                        <a:t>Tomahawk 6 (102.4 Tb/s) + Tomahawk Ultra + Jericho4 — open Ethernet vs NVIDIA NVLink/InfiniBand</a:t>
                      </a:r>
                    </a:p>
                  </a:txBody>
                  <a:tcPr marL="45720" marR="45720" marT="27432" marB="27432">
                    <a:solidFill>
                      <a:srgbClr val="F2F2F2"/>
                    </a:solidFill>
                  </a:tcPr>
                </a:tc>
              </a:tr>
              <a:tr h="60579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7365D"/>
                          </a:solidFill>
                          <a:latin typeface="Times New Roman"/>
                        </a:rPr>
                        <a:t>IP &amp; SerDes leadership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404040"/>
                          </a:solidFill>
                          <a:latin typeface="Times New Roman"/>
                        </a:rPr>
                        <a:t>Industry-leading 200G+ SerDes; deep analog/mixed-signal + optical (CPO) IP portfolio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</a:tr>
              <a:tr h="60579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7365D"/>
                          </a:solidFill>
                          <a:latin typeface="Times New Roman"/>
                        </a:rPr>
                        <a:t>VMware software annuity</a:t>
                      </a:r>
                    </a:p>
                  </a:txBody>
                  <a:tcPr marL="45720" marR="45720" marT="27432" marB="27432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404040"/>
                          </a:solidFill>
                          <a:latin typeface="Times New Roman"/>
                        </a:rPr>
                        <a:t>~$27B/yr, ~78% operating margin, recurring; deepens enterprise lock-in and funds capital return</a:t>
                      </a:r>
                    </a:p>
                  </a:txBody>
                  <a:tcPr marL="45720" marR="45720" marT="27432" marB="27432">
                    <a:solidFill>
                      <a:srgbClr val="F2F2F2"/>
                    </a:solidFill>
                  </a:tcPr>
                </a:tc>
              </a:tr>
              <a:tr h="60579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7365D"/>
                          </a:solidFill>
                          <a:latin typeface="Times New Roman"/>
                        </a:rPr>
                        <a:t>Capital-return discipline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404040"/>
                          </a:solidFill>
                          <a:latin typeface="Times New Roman"/>
                        </a:rPr>
                        <a:t>Hock Tan playbook: acquire, raise margins, pay down debt, grow dividend — ~$28.9B TTM FCF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57200" y="6510528"/>
            <a:ext cx="112471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 i="1">
                <a:solidFill>
                  <a:srgbClr val="BFBFBF"/>
                </a:solidFill>
                <a:latin typeface="Times New Roman"/>
              </a:rPr>
              <a:t>Sources: Broadcom IR &amp; earnings calls; CNBC (Anthropic, Dec 2025); company product releases (Tomahawk/Jericho). Some customer details reported/rumored.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1247120" cy="8686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400" b="1" i="0">
                <a:solidFill>
                  <a:srgbClr val="17365D"/>
                </a:solidFill>
                <a:latin typeface="Times New Roman"/>
              </a:rPr>
              <a:t>Peer set — semis cohort for the ~60%, an infrastructure-software anchor for the ~40%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80160"/>
            <a:ext cx="164592" cy="109728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280160"/>
            <a:ext cx="4572000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00" b="1" i="0">
                <a:solidFill>
                  <a:srgbClr val="CC0000"/>
                </a:solidFill>
                <a:latin typeface="Times New Roman"/>
              </a:rPr>
              <a:t>Closest competitor — custom silicon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691640"/>
            <a:ext cx="105156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0" i="0">
                <a:solidFill>
                  <a:srgbClr val="404040"/>
                </a:solidFill>
                <a:latin typeface="Times New Roman"/>
              </a:rPr>
              <a:t>• Marvell (MRVL) — #2 custom-ASIC house; Amazon Trainium, Microsoft Maia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984248"/>
            <a:ext cx="105156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0" i="0">
                <a:solidFill>
                  <a:srgbClr val="404040"/>
                </a:solidFill>
                <a:latin typeface="Times New Roman"/>
              </a:rPr>
              <a:t>• The cleanest read-through to AVGO's AI ASIC franchise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2514600"/>
            <a:ext cx="164592" cy="1097280"/>
          </a:xfrm>
          <a:prstGeom prst="rect">
            <a:avLst/>
          </a:prstGeom>
          <a:solidFill>
            <a:srgbClr val="17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2514600"/>
            <a:ext cx="4572000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00" b="1" i="0">
                <a:solidFill>
                  <a:srgbClr val="17365D"/>
                </a:solidFill>
                <a:latin typeface="Times New Roman"/>
              </a:rPr>
              <a:t>Merchant-GPU benchmarks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926080"/>
            <a:ext cx="105156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0" i="0">
                <a:solidFill>
                  <a:srgbClr val="404040"/>
                </a:solidFill>
                <a:latin typeface="Times New Roman"/>
              </a:rPr>
              <a:t>• NVIDIA (NVDA) — AI accelerator leader; the multiple everyone anchors to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3218688"/>
            <a:ext cx="105156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0" i="0">
                <a:solidFill>
                  <a:srgbClr val="404040"/>
                </a:solidFill>
                <a:latin typeface="Times New Roman"/>
              </a:rPr>
              <a:t>• AMD (AMD) — #2 data-center GPU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3749040"/>
            <a:ext cx="164592" cy="1097280"/>
          </a:xfrm>
          <a:prstGeom prst="rect">
            <a:avLst/>
          </a:prstGeom>
          <a:solidFill>
            <a:srgbClr val="BFBF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3749040"/>
            <a:ext cx="4572000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00" b="1" i="0">
                <a:solidFill>
                  <a:srgbClr val="BFBFBF"/>
                </a:solidFill>
                <a:latin typeface="Times New Roman"/>
              </a:rPr>
              <a:t>Mature-semi capital-return refs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4160520"/>
            <a:ext cx="105156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0" i="0">
                <a:solidFill>
                  <a:srgbClr val="404040"/>
                </a:solidFill>
                <a:latin typeface="Times New Roman"/>
              </a:rPr>
              <a:t>• Qualcomm (QCOM) — connectivity; value multiple, low AI-accelerator exposure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4453128"/>
            <a:ext cx="105156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0" i="0">
                <a:solidFill>
                  <a:srgbClr val="404040"/>
                </a:solidFill>
                <a:latin typeface="Times New Roman"/>
              </a:rPr>
              <a:t>• Texas Instruments (TXN) — analog; dividend/quality reference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4983480"/>
            <a:ext cx="164592" cy="109728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4983480"/>
            <a:ext cx="4572000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00" b="1" i="0">
                <a:solidFill>
                  <a:srgbClr val="2E7D32"/>
                </a:solidFill>
                <a:latin typeface="Times New Roman"/>
              </a:rPr>
              <a:t>Software anchor (VMware ~40%)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5394960"/>
            <a:ext cx="105156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0" i="0">
                <a:solidFill>
                  <a:srgbClr val="404040"/>
                </a:solidFill>
                <a:latin typeface="Times New Roman"/>
              </a:rPr>
              <a:t>• Oracle (ORCL) — large-cap infra software, now AI-capex-driven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5687568"/>
            <a:ext cx="105156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0" i="0">
                <a:solidFill>
                  <a:srgbClr val="404040"/>
                </a:solidFill>
                <a:latin typeface="Times New Roman"/>
              </a:rPr>
              <a:t>• Frames the software segment (memo; excluded from semis stats)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6510528"/>
            <a:ext cx="112471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 i="1">
                <a:solidFill>
                  <a:srgbClr val="BFBFBF"/>
                </a:solidFill>
                <a:latin typeface="Times New Roman"/>
              </a:rPr>
              <a:t>Peer framing per `comps-analysis`. Statistics computed over the 5 semis peers; ORCL shown as a software-anchor memo (you don't median a software multiple into a semis set).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1247120" cy="8686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400" b="1" i="0">
                <a:solidFill>
                  <a:srgbClr val="17365D"/>
                </a:solidFill>
                <a:latin typeface="Times New Roman"/>
              </a:rPr>
              <a:t>Positioning — NVDA is scaled-and-fast; AVGO is the scaled compounder; MRVL the high-beta proxy</a:t>
            </a:r>
          </a:p>
        </p:txBody>
      </p:sp>
      <p:pic>
        <p:nvPicPr>
          <p:cNvPr id="4" name="Picture 3" descr="position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188720"/>
            <a:ext cx="8046720" cy="504489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595360" y="1280160"/>
            <a:ext cx="3383280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1" i="0">
                <a:solidFill>
                  <a:srgbClr val="17365D"/>
                </a:solidFill>
                <a:latin typeface="Times New Roman"/>
              </a:rPr>
              <a:t>What the matrix says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95360" y="1783080"/>
            <a:ext cx="3383280" cy="45720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0" i="0">
                <a:solidFill>
                  <a:srgbClr val="404040"/>
                </a:solidFill>
                <a:latin typeface="Times New Roman"/>
              </a:rPr>
              <a:t>• NVIDIA: uniquely scaled AND +85% — the outlier; vast profitability justifies a 'low' P/E.</a:t>
            </a:r>
          </a:p>
          <a:p>
            <a:pPr algn="l"/>
            <a:r>
              <a:rPr sz="1100" b="0" i="0">
                <a:solidFill>
                  <a:srgbClr val="404040"/>
                </a:solidFill>
                <a:latin typeface="Times New Roman"/>
              </a:rPr>
              <a:t/>
            </a:r>
          </a:p>
          <a:p>
            <a:pPr algn="l"/>
            <a:r>
              <a:rPr sz="1100" b="0" i="0">
                <a:solidFill>
                  <a:srgbClr val="404040"/>
                </a:solidFill>
                <a:latin typeface="Times New Roman"/>
              </a:rPr>
              <a:t>• AVGO: $68B revenue at +29%, with the highest-margin/FCF profile — a scaled compounder, not a hyper-grower.</a:t>
            </a:r>
          </a:p>
          <a:p>
            <a:pPr algn="l"/>
            <a:r>
              <a:rPr sz="1100" b="0" i="0">
                <a:solidFill>
                  <a:srgbClr val="404040"/>
                </a:solidFill>
                <a:latin typeface="Times New Roman"/>
              </a:rPr>
              <a:t/>
            </a:r>
          </a:p>
          <a:p>
            <a:pPr algn="l"/>
            <a:r>
              <a:rPr sz="1100" b="0" i="0">
                <a:solidFill>
                  <a:srgbClr val="404040"/>
                </a:solidFill>
                <a:latin typeface="Times New Roman"/>
              </a:rPr>
              <a:t>• Marvell: small but +28% and re-rating — the high-beta way to play the same ASIC theme.</a:t>
            </a:r>
          </a:p>
          <a:p>
            <a:pPr algn="l"/>
            <a:r>
              <a:rPr sz="1100" b="0" i="0">
                <a:solidFill>
                  <a:srgbClr val="404040"/>
                </a:solidFill>
                <a:latin typeface="Times New Roman"/>
              </a:rPr>
              <a:t/>
            </a:r>
          </a:p>
          <a:p>
            <a:pPr algn="l"/>
            <a:r>
              <a:rPr sz="1100" b="0" i="0">
                <a:solidFill>
                  <a:srgbClr val="404040"/>
                </a:solidFill>
                <a:latin typeface="Times New Roman"/>
              </a:rPr>
              <a:t>• QCOM/TXN: scaled but mature/cyclical, limited AI-accelerator exposure.</a:t>
            </a:r>
          </a:p>
          <a:p>
            <a:pPr algn="l"/>
            <a:r>
              <a:rPr sz="1100" b="0" i="0">
                <a:solidFill>
                  <a:srgbClr val="404040"/>
                </a:solidFill>
                <a:latin typeface="Times New Roman"/>
              </a:rPr>
              <a:t/>
            </a:r>
          </a:p>
          <a:p>
            <a:pPr algn="l"/>
            <a:r>
              <a:rPr sz="1100" b="0" i="0">
                <a:solidFill>
                  <a:srgbClr val="404040"/>
                </a:solidFill>
                <a:latin typeface="Times New Roman"/>
              </a:rPr>
              <a:t>• Oracle: software anchor, +22% on AI-infra demand.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510528"/>
            <a:ext cx="112471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 i="1">
                <a:solidFill>
                  <a:srgbClr val="BFBFBF"/>
                </a:solidFill>
                <a:latin typeface="Times New Roman"/>
              </a:rPr>
              <a:t>Bubble size = market cap. Growth = most recent reported quarter YoY. Source: companion AVGO-Comps-Analysis.xlsx.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1247120" cy="8686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400" b="1" i="0">
                <a:solidFill>
                  <a:srgbClr val="17365D"/>
                </a:solidFill>
                <a:latin typeface="Times New Roman"/>
              </a:rPr>
              <a:t>Peer deep dive: NVIDIA — the benchmark; scaled, hyper-profitable, and (optically) not expensive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280160"/>
          <a:ext cx="566928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3383280"/>
              </a:tblGrid>
              <a:tr h="45720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Times New Roman"/>
                        </a:rPr>
                        <a:t>Metric</a:t>
                      </a:r>
                    </a:p>
                  </a:txBody>
                  <a:tcPr marL="45720" marR="45720" marT="27432" marB="27432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Times New Roman"/>
                        </a:rPr>
                        <a:t>Value</a:t>
                      </a:r>
                    </a:p>
                  </a:txBody>
                  <a:tcPr marL="45720" marR="45720" marT="27432" marB="27432">
                    <a:solidFill>
                      <a:srgbClr val="17365D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7365D"/>
                          </a:solidFill>
                          <a:latin typeface="Times New Roman"/>
                        </a:rPr>
                        <a:t>Market cap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404040"/>
                          </a:solidFill>
                          <a:latin typeface="Times New Roman"/>
                        </a:rPr>
                        <a:t>~$5.46T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7365D"/>
                          </a:solidFill>
                          <a:latin typeface="Times New Roman"/>
                        </a:rPr>
                        <a:t>TTM revenue</a:t>
                      </a:r>
                    </a:p>
                  </a:txBody>
                  <a:tcPr marL="45720" marR="45720" marT="27432" marB="27432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404040"/>
                          </a:solidFill>
                          <a:latin typeface="Times New Roman"/>
                        </a:rPr>
                        <a:t>~$253.5B</a:t>
                      </a:r>
                    </a:p>
                  </a:txBody>
                  <a:tcPr marL="45720" marR="45720" marT="27432" marB="27432">
                    <a:solidFill>
                      <a:srgbClr val="F2F2F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7365D"/>
                          </a:solidFill>
                          <a:latin typeface="Times New Roman"/>
                        </a:rPr>
                        <a:t>MRQ revenue growth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404040"/>
                          </a:solidFill>
                          <a:latin typeface="Times New Roman"/>
                        </a:rPr>
                        <a:t>+85% YoY (Q1 FY27)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7365D"/>
                          </a:solidFill>
                          <a:latin typeface="Times New Roman"/>
                        </a:rPr>
                        <a:t>Gross margin</a:t>
                      </a:r>
                    </a:p>
                  </a:txBody>
                  <a:tcPr marL="45720" marR="45720" marT="27432" marB="27432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404040"/>
                          </a:solidFill>
                          <a:latin typeface="Times New Roman"/>
                        </a:rPr>
                        <a:t>74.9%</a:t>
                      </a:r>
                    </a:p>
                  </a:txBody>
                  <a:tcPr marL="45720" marR="45720" marT="27432" marB="27432">
                    <a:solidFill>
                      <a:srgbClr val="F2F2F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7365D"/>
                          </a:solidFill>
                          <a:latin typeface="Times New Roman"/>
                        </a:rPr>
                        <a:t>TTM EBITDA / margin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404040"/>
                          </a:solidFill>
                          <a:latin typeface="Times New Roman"/>
                        </a:rPr>
                        <a:t>~$174.4B / ~69%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7365D"/>
                          </a:solidFill>
                          <a:latin typeface="Times New Roman"/>
                        </a:rPr>
                        <a:t>TTM net income</a:t>
                      </a:r>
                    </a:p>
                  </a:txBody>
                  <a:tcPr marL="45720" marR="45720" marT="27432" marB="27432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404040"/>
                          </a:solidFill>
                          <a:latin typeface="Times New Roman"/>
                        </a:rPr>
                        <a:t>~$159.6B</a:t>
                      </a:r>
                    </a:p>
                  </a:txBody>
                  <a:tcPr marL="45720" marR="45720" marT="27432" marB="27432">
                    <a:solidFill>
                      <a:srgbClr val="F2F2F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7365D"/>
                          </a:solidFill>
                          <a:latin typeface="Times New Roman"/>
                        </a:rPr>
                        <a:t>Net cash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404040"/>
                          </a:solidFill>
                          <a:latin typeface="Times New Roman"/>
                        </a:rPr>
                        <a:t>net cash (debt $8.5B &lt; cash)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7365D"/>
                          </a:solidFill>
                          <a:latin typeface="Times New Roman"/>
                        </a:rPr>
                        <a:t>P/E TTM / fwd</a:t>
                      </a:r>
                    </a:p>
                  </a:txBody>
                  <a:tcPr marL="45720" marR="45720" marT="27432" marB="27432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404040"/>
                          </a:solidFill>
                          <a:latin typeface="Times New Roman"/>
                        </a:rPr>
                        <a:t>~34x / ~26x</a:t>
                      </a:r>
                    </a:p>
                  </a:txBody>
                  <a:tcPr marL="45720" marR="45720" marT="27432" marB="27432">
                    <a:solidFill>
                      <a:srgbClr val="F2F2F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7365D"/>
                          </a:solidFill>
                          <a:latin typeface="Times New Roman"/>
                        </a:rPr>
                        <a:t>EV/EBITDA / EV/Rev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404040"/>
                          </a:solidFill>
                          <a:latin typeface="Times New Roman"/>
                        </a:rPr>
                        <a:t>~31x / ~21x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309360" y="1280160"/>
          <a:ext cx="539496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0160"/>
                <a:gridCol w="4114800"/>
              </a:tblGrid>
              <a:tr h="914400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Times New Roman"/>
                        </a:rPr>
                        <a:t>Category</a:t>
                      </a:r>
                    </a:p>
                  </a:txBody>
                  <a:tcPr marL="45720" marR="45720" marT="27432" marB="27432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Times New Roman"/>
                        </a:rPr>
                        <a:t>Assessment</a:t>
                      </a:r>
                    </a:p>
                  </a:txBody>
                  <a:tcPr marL="45720" marR="45720" marT="27432" marB="27432">
                    <a:solidFill>
                      <a:srgbClr val="17365D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17365D"/>
                          </a:solidFill>
                          <a:latin typeface="Times New Roman"/>
                        </a:rPr>
                        <a:t>Business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404040"/>
                          </a:solidFill>
                          <a:latin typeface="Times New Roman"/>
                        </a:rPr>
                        <a:t>Merchant AI GPU + networking (NVLink, Spectrum-X, InfiniBand); CUDA software moat.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17365D"/>
                          </a:solidFill>
                          <a:latin typeface="Times New Roman"/>
                        </a:rPr>
                        <a:t>Strengths</a:t>
                      </a:r>
                    </a:p>
                  </a:txBody>
                  <a:tcPr marL="45720" marR="45720" marT="27432" marB="27432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404040"/>
                          </a:solidFill>
                          <a:latin typeface="Times New Roman"/>
                        </a:rPr>
                        <a:t>• ~70%+ accelerator share</a:t>
                      </a:r>
                    </a:p>
                    <a:p>
                      <a:r>
                        <a:rPr sz="1050">
                          <a:solidFill>
                            <a:srgbClr val="404040"/>
                          </a:solidFill>
                          <a:latin typeface="Times New Roman"/>
                        </a:rPr>
                        <a:t>• Enormous profitability funds R&amp;D lead</a:t>
                      </a:r>
                    </a:p>
                    <a:p>
                      <a:r>
                        <a:rPr sz="1050">
                          <a:solidFill>
                            <a:srgbClr val="404040"/>
                          </a:solidFill>
                          <a:latin typeface="Times New Roman"/>
                        </a:rPr>
                        <a:t>• Full-stack (chip+system+software)</a:t>
                      </a:r>
                    </a:p>
                  </a:txBody>
                  <a:tcPr marL="45720" marR="45720" marT="27432" marB="27432">
                    <a:solidFill>
                      <a:srgbClr val="F2F2F2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17365D"/>
                          </a:solidFill>
                          <a:latin typeface="Times New Roman"/>
                        </a:rPr>
                        <a:t>Weaknesses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404040"/>
                          </a:solidFill>
                          <a:latin typeface="Times New Roman"/>
                        </a:rPr>
                        <a:t>• Custom ASIC share shift is the structural threat</a:t>
                      </a:r>
                    </a:p>
                    <a:p>
                      <a:r>
                        <a:rPr sz="1050">
                          <a:solidFill>
                            <a:srgbClr val="404040"/>
                          </a:solidFill>
                          <a:latin typeface="Times New Roman"/>
                        </a:rPr>
                        <a:t>• Customer-concentration in a few hyperscalers</a:t>
                      </a:r>
                    </a:p>
                    <a:p>
                      <a:r>
                        <a:rPr sz="1050">
                          <a:solidFill>
                            <a:srgbClr val="404040"/>
                          </a:solidFill>
                          <a:latin typeface="Times New Roman"/>
                        </a:rPr>
                        <a:t>• Geopolitical/export risk (China)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17365D"/>
                          </a:solidFill>
                          <a:latin typeface="Times New Roman"/>
                        </a:rPr>
                        <a:t>Read-through to AVGO</a:t>
                      </a:r>
                    </a:p>
                  </a:txBody>
                  <a:tcPr marL="45720" marR="45720" marT="27432" marB="27432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404040"/>
                          </a:solidFill>
                          <a:latin typeface="Times New Roman"/>
                        </a:rPr>
                        <a:t>NVDA's 'low' P/E sets the ceiling the market pays for AI compute; AVGO trades RICHER on fwd P/E despite slower growth.</a:t>
                      </a:r>
                    </a:p>
                  </a:txBody>
                  <a:tcPr marL="45720" marR="45720" marT="27432" marB="27432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6510528"/>
            <a:ext cx="112471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 i="1">
                <a:solidFill>
                  <a:srgbClr val="BFBFBF"/>
                </a:solidFill>
                <a:latin typeface="Times New Roman"/>
              </a:rPr>
              <a:t>Sources: NVIDIA Q1 FY27 newsroom; Macrotrends; GuruFocus; valueinvesting.io (~June 2026).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1247120" cy="8686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400" b="1" i="0">
                <a:solidFill>
                  <a:srgbClr val="17365D"/>
                </a:solidFill>
                <a:latin typeface="Times New Roman"/>
              </a:rPr>
              <a:t>Peer deep dives: AMD (#2 GPU) and Marvell (closest custom-silicon comp)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280160"/>
          <a:ext cx="5669280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7360"/>
                <a:gridCol w="3931920"/>
              </a:tblGrid>
              <a:tr h="594360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Times New Roman"/>
                        </a:rPr>
                        <a:t>AMD (AMD)</a:t>
                      </a:r>
                    </a:p>
                  </a:txBody>
                  <a:tcPr marL="45720" marR="45720" marT="27432" marB="27432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 marL="45720" marR="45720" marT="27432" marB="27432">
                    <a:solidFill>
                      <a:srgbClr val="17365D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17365D"/>
                          </a:solidFill>
                          <a:latin typeface="Times New Roman"/>
                        </a:rPr>
                        <a:t>Market cap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404040"/>
                          </a:solidFill>
                          <a:latin typeface="Times New Roman"/>
                        </a:rPr>
                        <a:t>~$839B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17365D"/>
                          </a:solidFill>
                          <a:latin typeface="Times New Roman"/>
                        </a:rPr>
                        <a:t>TTM revenue / growth</a:t>
                      </a:r>
                    </a:p>
                  </a:txBody>
                  <a:tcPr marL="45720" marR="45720" marT="27432" marB="27432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404040"/>
                          </a:solidFill>
                          <a:latin typeface="Times New Roman"/>
                        </a:rPr>
                        <a:t>$37.5B / +38% YoY</a:t>
                      </a:r>
                    </a:p>
                  </a:txBody>
                  <a:tcPr marL="45720" marR="45720" marT="27432" marB="27432">
                    <a:solidFill>
                      <a:srgbClr val="F2F2F2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17365D"/>
                          </a:solidFill>
                          <a:latin typeface="Times New Roman"/>
                        </a:rPr>
                        <a:t>Gross margin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404040"/>
                          </a:solidFill>
                          <a:latin typeface="Times New Roman"/>
                        </a:rPr>
                        <a:t>~53%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17365D"/>
                          </a:solidFill>
                          <a:latin typeface="Times New Roman"/>
                        </a:rPr>
                        <a:t>Net income (TTM)</a:t>
                      </a:r>
                    </a:p>
                  </a:txBody>
                  <a:tcPr marL="45720" marR="45720" marT="27432" marB="27432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404040"/>
                          </a:solidFill>
                          <a:latin typeface="Times New Roman"/>
                        </a:rPr>
                        <a:t>~$5.0B [E] (GAAP ramping)</a:t>
                      </a:r>
                    </a:p>
                  </a:txBody>
                  <a:tcPr marL="45720" marR="45720" marT="27432" marB="27432">
                    <a:solidFill>
                      <a:srgbClr val="F2F2F2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17365D"/>
                          </a:solidFill>
                          <a:latin typeface="Times New Roman"/>
                        </a:rPr>
                        <a:t>P/E TTM / fwd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404040"/>
                          </a:solidFill>
                          <a:latin typeface="Times New Roman"/>
                        </a:rPr>
                        <a:t>~150–167x / ~33x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17365D"/>
                          </a:solidFill>
                          <a:latin typeface="Times New Roman"/>
                        </a:rPr>
                        <a:t>EV/Rev</a:t>
                      </a:r>
                    </a:p>
                  </a:txBody>
                  <a:tcPr marL="45720" marR="45720" marT="27432" marB="27432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404040"/>
                          </a:solidFill>
                          <a:latin typeface="Times New Roman"/>
                        </a:rPr>
                        <a:t>~22x</a:t>
                      </a:r>
                    </a:p>
                  </a:txBody>
                  <a:tcPr marL="45720" marR="45720" marT="27432" marB="27432">
                    <a:solidFill>
                      <a:srgbClr val="F2F2F2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17365D"/>
                          </a:solidFill>
                          <a:latin typeface="Times New Roman"/>
                        </a:rPr>
                        <a:t>Read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404040"/>
                          </a:solidFill>
                          <a:latin typeface="Times New Roman"/>
                        </a:rPr>
                        <a:t>#2 merchant GPU (MI-series); read on EV/Rev + forward, not GAAP TTM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309360" y="1280160"/>
          <a:ext cx="5394960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7360"/>
                <a:gridCol w="3657600"/>
              </a:tblGrid>
              <a:tr h="594360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Times New Roman"/>
                        </a:rPr>
                        <a:t>Marvell (MRVL)</a:t>
                      </a:r>
                    </a:p>
                  </a:txBody>
                  <a:tcPr marL="45720" marR="45720" marT="27432" marB="27432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 marL="45720" marR="45720" marT="27432" marB="27432">
                    <a:solidFill>
                      <a:srgbClr val="17365D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17365D"/>
                          </a:solidFill>
                          <a:latin typeface="Times New Roman"/>
                        </a:rPr>
                        <a:t>Market cap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404040"/>
                          </a:solidFill>
                          <a:latin typeface="Times New Roman"/>
                        </a:rPr>
                        <a:t>~$192B (+51% on NVDA endorsement)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17365D"/>
                          </a:solidFill>
                          <a:latin typeface="Times New Roman"/>
                        </a:rPr>
                        <a:t>TTM revenue / growth</a:t>
                      </a:r>
                    </a:p>
                  </a:txBody>
                  <a:tcPr marL="45720" marR="45720" marT="27432" marB="27432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404040"/>
                          </a:solidFill>
                          <a:latin typeface="Times New Roman"/>
                        </a:rPr>
                        <a:t>~$8.6B [E] / +28% YoY</a:t>
                      </a:r>
                    </a:p>
                  </a:txBody>
                  <a:tcPr marL="45720" marR="45720" marT="27432" marB="27432">
                    <a:solidFill>
                      <a:srgbClr val="F2F2F2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17365D"/>
                          </a:solidFill>
                          <a:latin typeface="Times New Roman"/>
                        </a:rPr>
                        <a:t>Gross margin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404040"/>
                          </a:solidFill>
                          <a:latin typeface="Times New Roman"/>
                        </a:rPr>
                        <a:t>52.1% GAAP / 58.9% non-GAAP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17365D"/>
                          </a:solidFill>
                          <a:latin typeface="Times New Roman"/>
                        </a:rPr>
                        <a:t>Net income (TTM)</a:t>
                      </a:r>
                    </a:p>
                  </a:txBody>
                  <a:tcPr marL="45720" marR="45720" marT="27432" marB="27432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404040"/>
                          </a:solidFill>
                          <a:latin typeface="Times New Roman"/>
                        </a:rPr>
                        <a:t>~$0.3B GAAP [E] (amortization-depressed)</a:t>
                      </a:r>
                    </a:p>
                  </a:txBody>
                  <a:tcPr marL="45720" marR="45720" marT="27432" marB="27432">
                    <a:solidFill>
                      <a:srgbClr val="F2F2F2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17365D"/>
                          </a:solidFill>
                          <a:latin typeface="Times New Roman"/>
                        </a:rPr>
                        <a:t>P/E TTM / fwd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404040"/>
                          </a:solidFill>
                          <a:latin typeface="Times New Roman"/>
                        </a:rPr>
                        <a:t>NM-high / ~48x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17365D"/>
                          </a:solidFill>
                          <a:latin typeface="Times New Roman"/>
                        </a:rPr>
                        <a:t>Customers</a:t>
                      </a:r>
                    </a:p>
                  </a:txBody>
                  <a:tcPr marL="45720" marR="45720" marT="27432" marB="27432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404040"/>
                          </a:solidFill>
                          <a:latin typeface="Times New Roman"/>
                        </a:rPr>
                        <a:t>Amazon Trainium/Inferentia, Microsoft Maia</a:t>
                      </a:r>
                    </a:p>
                  </a:txBody>
                  <a:tcPr marL="45720" marR="45720" marT="27432" marB="27432">
                    <a:solidFill>
                      <a:srgbClr val="F2F2F2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17365D"/>
                          </a:solidFill>
                          <a:latin typeface="Times New Roman"/>
                        </a:rPr>
                        <a:t>Read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404040"/>
                          </a:solidFill>
                          <a:latin typeface="Times New Roman"/>
                        </a:rPr>
                        <a:t>Closest AVGO ASIC comp; smaller, higher-beta, single net-debt name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6510528"/>
            <a:ext cx="112471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 i="1">
                <a:solidFill>
                  <a:srgbClr val="BFBFBF"/>
                </a:solidFill>
                <a:latin typeface="Times New Roman"/>
              </a:rPr>
              <a:t>Sources: AMD Q1 2026 8-K; Marvell Q1 FY27 IR; StockAnalysis.com; GuruFocus (~June 2026).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1247120" cy="8686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400" b="1" i="0">
                <a:solidFill>
                  <a:srgbClr val="17365D"/>
                </a:solidFill>
                <a:latin typeface="Times New Roman"/>
              </a:rPr>
              <a:t>Peer context: Qualcomm &amp; Texas Instruments — mature-semi valuation anchors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280160"/>
          <a:ext cx="566928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3657600"/>
              </a:tblGrid>
              <a:tr h="731520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Times New Roman"/>
                        </a:rPr>
                        <a:t>Qualcomm (QCOM)</a:t>
                      </a:r>
                    </a:p>
                  </a:txBody>
                  <a:tcPr marL="45720" marR="45720" marT="27432" marB="27432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 marL="45720" marR="45720" marT="27432" marB="27432">
                    <a:solidFill>
                      <a:srgbClr val="17365D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17365D"/>
                          </a:solidFill>
                          <a:latin typeface="Times New Roman"/>
                        </a:rPr>
                        <a:t>Market cap / TTM rev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404040"/>
                          </a:solidFill>
                          <a:latin typeface="Times New Roman"/>
                        </a:rPr>
                        <a:t>~$215B / ~$44.5B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17365D"/>
                          </a:solidFill>
                          <a:latin typeface="Times New Roman"/>
                        </a:rPr>
                        <a:t>MRQ growth</a:t>
                      </a:r>
                    </a:p>
                  </a:txBody>
                  <a:tcPr marL="45720" marR="45720" marT="27432" marB="27432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404040"/>
                          </a:solidFill>
                          <a:latin typeface="Times New Roman"/>
                        </a:rPr>
                        <a:t>~-3% YoY (handset soft)</a:t>
                      </a:r>
                    </a:p>
                  </a:txBody>
                  <a:tcPr marL="45720" marR="45720" marT="27432" marB="27432">
                    <a:solidFill>
                      <a:srgbClr val="F2F2F2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17365D"/>
                          </a:solidFill>
                          <a:latin typeface="Times New Roman"/>
                        </a:rPr>
                        <a:t>TTM EBITDA / margin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404040"/>
                          </a:solidFill>
                          <a:latin typeface="Times New Roman"/>
                        </a:rPr>
                        <a:t>~$14.0B / ~31%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17365D"/>
                          </a:solidFill>
                          <a:latin typeface="Times New Roman"/>
                        </a:rPr>
                        <a:t>P/E TTM / fwd</a:t>
                      </a:r>
                    </a:p>
                  </a:txBody>
                  <a:tcPr marL="45720" marR="45720" marT="27432" marB="27432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404040"/>
                          </a:solidFill>
                          <a:latin typeface="Times New Roman"/>
                        </a:rPr>
                        <a:t>~20x / ~14x (cheapest fwd)</a:t>
                      </a:r>
                    </a:p>
                  </a:txBody>
                  <a:tcPr marL="45720" marR="45720" marT="27432" marB="27432">
                    <a:solidFill>
                      <a:srgbClr val="F2F2F2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17365D"/>
                          </a:solidFill>
                          <a:latin typeface="Times New Roman"/>
                        </a:rPr>
                        <a:t>Read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404040"/>
                          </a:solidFill>
                          <a:latin typeface="Times New Roman"/>
                        </a:rPr>
                        <a:t>Value/mature; limited AI-accelerator exposure; sets the cheap end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309360" y="1280160"/>
          <a:ext cx="539496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/>
                <a:gridCol w="3200400"/>
              </a:tblGrid>
              <a:tr h="731520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Times New Roman"/>
                        </a:rPr>
                        <a:t>Texas Instruments (TXN)</a:t>
                      </a:r>
                    </a:p>
                  </a:txBody>
                  <a:tcPr marL="45720" marR="45720" marT="27432" marB="27432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 marL="45720" marR="45720" marT="27432" marB="27432">
                    <a:solidFill>
                      <a:srgbClr val="17365D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17365D"/>
                          </a:solidFill>
                          <a:latin typeface="Times New Roman"/>
                        </a:rPr>
                        <a:t>Market cap / TTM rev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404040"/>
                          </a:solidFill>
                          <a:latin typeface="Times New Roman"/>
                        </a:rPr>
                        <a:t>~$287B / ~$18.4B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17365D"/>
                          </a:solidFill>
                          <a:latin typeface="Times New Roman"/>
                        </a:rPr>
                        <a:t>MRQ growth</a:t>
                      </a:r>
                    </a:p>
                  </a:txBody>
                  <a:tcPr marL="45720" marR="45720" marT="27432" marB="27432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404040"/>
                          </a:solidFill>
                          <a:latin typeface="Times New Roman"/>
                        </a:rPr>
                        <a:t>+19% YoY (industrial + DC)</a:t>
                      </a:r>
                    </a:p>
                  </a:txBody>
                  <a:tcPr marL="45720" marR="45720" marT="27432" marB="27432">
                    <a:solidFill>
                      <a:srgbClr val="F2F2F2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17365D"/>
                          </a:solidFill>
                          <a:latin typeface="Times New Roman"/>
                        </a:rPr>
                        <a:t>TTM EBITDA / margin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404040"/>
                          </a:solidFill>
                          <a:latin typeface="Times New Roman"/>
                        </a:rPr>
                        <a:t>~$8.8B / ~48%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17365D"/>
                          </a:solidFill>
                          <a:latin typeface="Times New Roman"/>
                        </a:rPr>
                        <a:t>P/E TTM / fwd</a:t>
                      </a:r>
                    </a:p>
                  </a:txBody>
                  <a:tcPr marL="45720" marR="45720" marT="27432" marB="27432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404040"/>
                          </a:solidFill>
                          <a:latin typeface="Times New Roman"/>
                        </a:rPr>
                        <a:t>~50x / ~30x (trough earnings)</a:t>
                      </a:r>
                    </a:p>
                  </a:txBody>
                  <a:tcPr marL="45720" marR="45720" marT="27432" marB="27432">
                    <a:solidFill>
                      <a:srgbClr val="F2F2F2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17365D"/>
                          </a:solidFill>
                          <a:latin typeface="Times New Roman"/>
                        </a:rPr>
                        <a:t>Read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404040"/>
                          </a:solidFill>
                          <a:latin typeface="Times New Roman"/>
                        </a:rPr>
                        <a:t>Quality analog/dividend ref; multiples reflect capex-cycle trough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5760720"/>
            <a:ext cx="11247120" cy="6400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0" i="1">
                <a:solidFill>
                  <a:srgbClr val="404040"/>
                </a:solidFill>
                <a:latin typeface="Times New Roman"/>
              </a:rPr>
              <a:t>Both frame the mature-semi multiple band (fwd ~14–30x) — useful as the floor under AVGO's non-AI semis, but neither carries AVGO's AI growth.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510528"/>
            <a:ext cx="112471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 i="1">
                <a:solidFill>
                  <a:srgbClr val="BFBFBF"/>
                </a:solidFill>
                <a:latin typeface="Times New Roman"/>
              </a:rPr>
              <a:t>Sources: Qualcomm Q2 FY26; TI Q1 2026; Macrotrends; GuruFocus (~May–June 2026). QCOM TTM NI excludes one-time tax benefit.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1247120" cy="8686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400" b="1" i="0">
                <a:solidFill>
                  <a:srgbClr val="17365D"/>
                </a:solidFill>
                <a:latin typeface="Times New Roman"/>
              </a:rPr>
              <a:t>The software side: VMware (within AVGO) vs Oracle — the ~40% the semis comps miss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371600"/>
          <a:ext cx="1124712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/>
                <a:gridCol w="4937760"/>
                <a:gridCol w="4114800"/>
              </a:tblGrid>
              <a:tr h="45720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Times New Roman"/>
                        </a:rPr>
                        <a:t>Dimension</a:t>
                      </a:r>
                    </a:p>
                  </a:txBody>
                  <a:tcPr marL="45720" marR="45720" marT="27432" marB="27432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Times New Roman"/>
                        </a:rPr>
                        <a:t>AVGO Infrastructure Software (VMware)</a:t>
                      </a:r>
                    </a:p>
                  </a:txBody>
                  <a:tcPr marL="45720" marR="45720" marT="27432" marB="27432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Times New Roman"/>
                        </a:rPr>
                        <a:t>Oracle (ORCL) — anchor</a:t>
                      </a:r>
                    </a:p>
                  </a:txBody>
                  <a:tcPr marL="45720" marR="45720" marT="27432" marB="27432">
                    <a:solidFill>
                      <a:srgbClr val="17365D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7365D"/>
                          </a:solidFill>
                          <a:latin typeface="Times New Roman"/>
                        </a:rPr>
                        <a:t>Revenue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404040"/>
                          </a:solidFill>
                          <a:latin typeface="Times New Roman"/>
                        </a:rPr>
                        <a:t>~$6.8B/qtr (~$27B/yr)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404040"/>
                          </a:solidFill>
                          <a:latin typeface="Times New Roman"/>
                        </a:rPr>
                        <a:t>~$64.1B TTM (+22% YoY)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7365D"/>
                          </a:solidFill>
                          <a:latin typeface="Times New Roman"/>
                        </a:rPr>
                        <a:t>Profitability</a:t>
                      </a:r>
                    </a:p>
                  </a:txBody>
                  <a:tcPr marL="45720" marR="45720" marT="27432" marB="27432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404040"/>
                          </a:solidFill>
                          <a:latin typeface="Times New Roman"/>
                        </a:rPr>
                        <a:t>~78% segment operating margin</a:t>
                      </a:r>
                    </a:p>
                  </a:txBody>
                  <a:tcPr marL="45720" marR="45720" marT="27432" marB="27432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404040"/>
                          </a:solidFill>
                          <a:latin typeface="Times New Roman"/>
                        </a:rPr>
                        <a:t>~48% EBITDA margin</a:t>
                      </a:r>
                    </a:p>
                  </a:txBody>
                  <a:tcPr marL="45720" marR="45720" marT="27432" marB="27432">
                    <a:solidFill>
                      <a:srgbClr val="F2F2F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7365D"/>
                          </a:solidFill>
                          <a:latin typeface="Times New Roman"/>
                        </a:rPr>
                        <a:t>Growth profile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404040"/>
                          </a:solidFill>
                          <a:latin typeface="Times New Roman"/>
                        </a:rPr>
                        <a:t>~+1% YoY (re-based post-acquisition; margin story)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404040"/>
                          </a:solidFill>
                          <a:latin typeface="Times New Roman"/>
                        </a:rPr>
                        <a:t>+22% (OCI +84%) — AI-capex growth story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7365D"/>
                          </a:solidFill>
                          <a:latin typeface="Times New Roman"/>
                        </a:rPr>
                        <a:t>Balance sheet</a:t>
                      </a:r>
                    </a:p>
                  </a:txBody>
                  <a:tcPr marL="45720" marR="45720" marT="27432" marB="27432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404040"/>
                          </a:solidFill>
                          <a:latin typeface="Times New Roman"/>
                        </a:rPr>
                        <a:t>Funded within AVGO; group de-levering</a:t>
                      </a:r>
                    </a:p>
                  </a:txBody>
                  <a:tcPr marL="45720" marR="45720" marT="27432" marB="27432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404040"/>
                          </a:solidFill>
                          <a:latin typeface="Times New Roman"/>
                        </a:rPr>
                        <a:t>~$96B net debt, rising (+$30B raised Feb 2026)</a:t>
                      </a:r>
                    </a:p>
                  </a:txBody>
                  <a:tcPr marL="45720" marR="45720" marT="27432" marB="27432">
                    <a:solidFill>
                      <a:srgbClr val="F2F2F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7365D"/>
                          </a:solidFill>
                          <a:latin typeface="Times New Roman"/>
                        </a:rPr>
                        <a:t>Multiple lens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404040"/>
                          </a:solidFill>
                          <a:latin typeface="Times New Roman"/>
                        </a:rPr>
                        <a:t>Annuity / FCF — high-margin, low-growth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404040"/>
                          </a:solidFill>
                          <a:latin typeface="Times New Roman"/>
                        </a:rPr>
                        <a:t>EV/Rev ~12x, EV/EBITDA ~18x (growth premium)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57200" y="4480560"/>
            <a:ext cx="11247120" cy="18288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0" i="0">
                <a:solidFill>
                  <a:srgbClr val="404040"/>
                </a:solidFill>
                <a:latin typeface="Times New Roman"/>
              </a:rPr>
              <a:t>• ORCL is the best LARGE-CAP infra-software anchor, but it's an imperfect proxy: it's now an AI-datacenter capex story (high growth, ballooning debt), whereas VMware is a low-growth, ~78%-margin annuity.</a:t>
            </a:r>
          </a:p>
          <a:p>
            <a:pPr algn="l"/>
            <a:r>
              <a:rPr sz="1200" b="0" i="0">
                <a:solidFill>
                  <a:srgbClr val="404040"/>
                </a:solidFill>
                <a:latin typeface="Times New Roman"/>
              </a:rPr>
              <a:t>• Net: VMware likely warrants a HIGHER-margin / LOWER-growth multiple than ORCL's blended profile — value it as an FCF annuity, not on ORCL's growth multiple.</a:t>
            </a:r>
          </a:p>
          <a:p>
            <a:pPr algn="l"/>
            <a:r>
              <a:rPr sz="1200" b="0" i="0">
                <a:solidFill>
                  <a:srgbClr val="404040"/>
                </a:solidFill>
                <a:latin typeface="Times New Roman"/>
              </a:rPr>
              <a:t>• Practical takeaway for the comps: keep ORCL as a memo, not in the semis median — and treat AVGO's software EBITDA as the low-volatility ballast under the AI growth option.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510528"/>
            <a:ext cx="112471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 i="1">
                <a:solidFill>
                  <a:srgbClr val="BFBFBF"/>
                </a:solidFill>
                <a:latin typeface="Times New Roman"/>
              </a:rPr>
              <a:t>Sources: Broadcom Q1 FY26 (software segment); Oracle Q3 FY26 (Mar 2026); Futurum; Macrotrends.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1247120" cy="8686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400" b="1" i="0">
                <a:solidFill>
                  <a:srgbClr val="17365D"/>
                </a:solidFill>
                <a:latin typeface="Times New Roman"/>
              </a:rPr>
              <a:t>Comparative scoreboard — AVGO leads on margin/FCF; NVDA on growth; AVGO richest on fwd P/E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65760" y="1280160"/>
          <a:ext cx="11338560" cy="4937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1554480"/>
                <a:gridCol w="1554480"/>
                <a:gridCol w="1554480"/>
                <a:gridCol w="1463040"/>
                <a:gridCol w="1463040"/>
                <a:gridCol w="1463040"/>
              </a:tblGrid>
              <a:tr h="61722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Times New Roman"/>
                        </a:rPr>
                        <a:t>Dimension</a:t>
                      </a:r>
                    </a:p>
                  </a:txBody>
                  <a:tcPr marL="45720" marR="45720" marT="27432" marB="27432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Times New Roman"/>
                        </a:rPr>
                        <a:t>AVGO</a:t>
                      </a:r>
                    </a:p>
                  </a:txBody>
                  <a:tcPr marL="45720" marR="45720" marT="27432" marB="27432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Times New Roman"/>
                        </a:rPr>
                        <a:t>NVDA</a:t>
                      </a:r>
                    </a:p>
                  </a:txBody>
                  <a:tcPr marL="45720" marR="45720" marT="27432" marB="27432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Times New Roman"/>
                        </a:rPr>
                        <a:t>AMD</a:t>
                      </a:r>
                    </a:p>
                  </a:txBody>
                  <a:tcPr marL="45720" marR="45720" marT="27432" marB="27432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Times New Roman"/>
                        </a:rPr>
                        <a:t>MRVL</a:t>
                      </a:r>
                    </a:p>
                  </a:txBody>
                  <a:tcPr marL="45720" marR="45720" marT="27432" marB="27432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Times New Roman"/>
                        </a:rPr>
                        <a:t>QCOM</a:t>
                      </a:r>
                    </a:p>
                  </a:txBody>
                  <a:tcPr marL="45720" marR="45720" marT="27432" marB="27432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Times New Roman"/>
                        </a:rPr>
                        <a:t>TXN</a:t>
                      </a:r>
                    </a:p>
                  </a:txBody>
                  <a:tcPr marL="45720" marR="45720" marT="27432" marB="27432">
                    <a:solidFill>
                      <a:srgbClr val="17365D"/>
                    </a:solidFill>
                  </a:tcPr>
                </a:tc>
              </a:tr>
              <a:tr h="61722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17365D"/>
                          </a:solidFill>
                          <a:latin typeface="Times New Roman"/>
                        </a:rPr>
                        <a:t>Revenue scale (TTM)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404040"/>
                          </a:solidFill>
                          <a:latin typeface="Times New Roman"/>
                        </a:rPr>
                        <a:t>●●○ $68B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404040"/>
                          </a:solidFill>
                          <a:latin typeface="Times New Roman"/>
                        </a:rPr>
                        <a:t>●●● $254B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404040"/>
                          </a:solidFill>
                          <a:latin typeface="Times New Roman"/>
                        </a:rPr>
                        <a:t>●○○ $37B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404040"/>
                          </a:solidFill>
                          <a:latin typeface="Times New Roman"/>
                        </a:rPr>
                        <a:t>●○○ $9B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404040"/>
                          </a:solidFill>
                          <a:latin typeface="Times New Roman"/>
                        </a:rPr>
                        <a:t>●●○ $44B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404040"/>
                          </a:solidFill>
                          <a:latin typeface="Times New Roman"/>
                        </a:rPr>
                        <a:t>●○○ $18B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</a:tr>
              <a:tr h="61722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17365D"/>
                          </a:solidFill>
                          <a:latin typeface="Times New Roman"/>
                        </a:rPr>
                        <a:t>Revenue growth (MRQ)</a:t>
                      </a:r>
                    </a:p>
                  </a:txBody>
                  <a:tcPr marL="45720" marR="45720" marT="27432" marB="27432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404040"/>
                          </a:solidFill>
                          <a:latin typeface="Times New Roman"/>
                        </a:rPr>
                        <a:t>●●○ +29%</a:t>
                      </a:r>
                    </a:p>
                  </a:txBody>
                  <a:tcPr marL="45720" marR="45720" marT="27432" marB="27432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404040"/>
                          </a:solidFill>
                          <a:latin typeface="Times New Roman"/>
                        </a:rPr>
                        <a:t>●●● +85%</a:t>
                      </a:r>
                    </a:p>
                  </a:txBody>
                  <a:tcPr marL="45720" marR="45720" marT="27432" marB="27432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404040"/>
                          </a:solidFill>
                          <a:latin typeface="Times New Roman"/>
                        </a:rPr>
                        <a:t>●●○ +38%</a:t>
                      </a:r>
                    </a:p>
                  </a:txBody>
                  <a:tcPr marL="45720" marR="45720" marT="27432" marB="27432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404040"/>
                          </a:solidFill>
                          <a:latin typeface="Times New Roman"/>
                        </a:rPr>
                        <a:t>●●○ +28%</a:t>
                      </a:r>
                    </a:p>
                  </a:txBody>
                  <a:tcPr marL="45720" marR="45720" marT="27432" marB="27432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404040"/>
                          </a:solidFill>
                          <a:latin typeface="Times New Roman"/>
                        </a:rPr>
                        <a:t>●○○ -3%</a:t>
                      </a:r>
                    </a:p>
                  </a:txBody>
                  <a:tcPr marL="45720" marR="45720" marT="27432" marB="27432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404040"/>
                          </a:solidFill>
                          <a:latin typeface="Times New Roman"/>
                        </a:rPr>
                        <a:t>●○○ +19%</a:t>
                      </a:r>
                    </a:p>
                  </a:txBody>
                  <a:tcPr marL="45720" marR="45720" marT="27432" marB="27432">
                    <a:solidFill>
                      <a:srgbClr val="F2F2F2"/>
                    </a:solidFill>
                  </a:tcPr>
                </a:tc>
              </a:tr>
              <a:tr h="61722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17365D"/>
                          </a:solidFill>
                          <a:latin typeface="Times New Roman"/>
                        </a:rPr>
                        <a:t>AI exposure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404040"/>
                          </a:solidFill>
                          <a:latin typeface="Times New Roman"/>
                        </a:rPr>
                        <a:t>●●● ASIC+net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404040"/>
                          </a:solidFill>
                          <a:latin typeface="Times New Roman"/>
                        </a:rPr>
                        <a:t>●●● GPU leader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404040"/>
                          </a:solidFill>
                          <a:latin typeface="Times New Roman"/>
                        </a:rPr>
                        <a:t>●●○ #2 GPU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404040"/>
                          </a:solidFill>
                          <a:latin typeface="Times New Roman"/>
                        </a:rPr>
                        <a:t>●●● ASIC #2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404040"/>
                          </a:solidFill>
                          <a:latin typeface="Times New Roman"/>
                        </a:rPr>
                        <a:t>●○○ edge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404040"/>
                          </a:solidFill>
                          <a:latin typeface="Times New Roman"/>
                        </a:rPr>
                        <a:t>●○○ content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</a:tr>
              <a:tr h="61722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17365D"/>
                          </a:solidFill>
                          <a:latin typeface="Times New Roman"/>
                        </a:rPr>
                        <a:t>Margin / FCF quality</a:t>
                      </a:r>
                    </a:p>
                  </a:txBody>
                  <a:tcPr marL="45720" marR="45720" marT="27432" marB="27432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404040"/>
                          </a:solidFill>
                          <a:latin typeface="Times New Roman"/>
                        </a:rPr>
                        <a:t>●●● 68% EBITDA</a:t>
                      </a:r>
                    </a:p>
                  </a:txBody>
                  <a:tcPr marL="45720" marR="45720" marT="27432" marB="27432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404040"/>
                          </a:solidFill>
                          <a:latin typeface="Times New Roman"/>
                        </a:rPr>
                        <a:t>●●● 69%</a:t>
                      </a:r>
                    </a:p>
                  </a:txBody>
                  <a:tcPr marL="45720" marR="45720" marT="27432" marB="27432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404040"/>
                          </a:solidFill>
                          <a:latin typeface="Times New Roman"/>
                        </a:rPr>
                        <a:t>●○○ 22%</a:t>
                      </a:r>
                    </a:p>
                  </a:txBody>
                  <a:tcPr marL="45720" marR="45720" marT="27432" marB="27432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404040"/>
                          </a:solidFill>
                          <a:latin typeface="Times New Roman"/>
                        </a:rPr>
                        <a:t>●●○ ~31%[E]</a:t>
                      </a:r>
                    </a:p>
                  </a:txBody>
                  <a:tcPr marL="45720" marR="45720" marT="27432" marB="27432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404040"/>
                          </a:solidFill>
                          <a:latin typeface="Times New Roman"/>
                        </a:rPr>
                        <a:t>●●○ 31%</a:t>
                      </a:r>
                    </a:p>
                  </a:txBody>
                  <a:tcPr marL="45720" marR="45720" marT="27432" marB="27432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404040"/>
                          </a:solidFill>
                          <a:latin typeface="Times New Roman"/>
                        </a:rPr>
                        <a:t>●●● 48%</a:t>
                      </a:r>
                    </a:p>
                  </a:txBody>
                  <a:tcPr marL="45720" marR="45720" marT="27432" marB="27432">
                    <a:solidFill>
                      <a:srgbClr val="F2F2F2"/>
                    </a:solidFill>
                  </a:tcPr>
                </a:tc>
              </a:tr>
              <a:tr h="61722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17365D"/>
                          </a:solidFill>
                          <a:latin typeface="Times New Roman"/>
                        </a:rPr>
                        <a:t>Balance sheet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404040"/>
                          </a:solidFill>
                          <a:latin typeface="Times New Roman"/>
                        </a:rPr>
                        <a:t>●●○ $52B net debt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404040"/>
                          </a:solidFill>
                          <a:latin typeface="Times New Roman"/>
                        </a:rPr>
                        <a:t>●●● net cash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404040"/>
                          </a:solidFill>
                          <a:latin typeface="Times New Roman"/>
                        </a:rPr>
                        <a:t>●●● net cash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404040"/>
                          </a:solidFill>
                          <a:latin typeface="Times New Roman"/>
                        </a:rPr>
                        <a:t>●●○ $1.4B nd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404040"/>
                          </a:solidFill>
                          <a:latin typeface="Times New Roman"/>
                        </a:rPr>
                        <a:t>●●○ $5.5B nd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404040"/>
                          </a:solidFill>
                          <a:latin typeface="Times New Roman"/>
                        </a:rPr>
                        <a:t>●●○ $8B nd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</a:tr>
              <a:tr h="61722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17365D"/>
                          </a:solidFill>
                          <a:latin typeface="Times New Roman"/>
                        </a:rPr>
                        <a:t>Valuation (fwd P/E)</a:t>
                      </a:r>
                    </a:p>
                  </a:txBody>
                  <a:tcPr marL="45720" marR="45720" marT="27432" marB="27432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404040"/>
                          </a:solidFill>
                          <a:latin typeface="Times New Roman"/>
                        </a:rPr>
                        <a:t>●○○ ~31x</a:t>
                      </a:r>
                    </a:p>
                  </a:txBody>
                  <a:tcPr marL="45720" marR="45720" marT="27432" marB="27432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404040"/>
                          </a:solidFill>
                          <a:latin typeface="Times New Roman"/>
                        </a:rPr>
                        <a:t>●●○ ~26x</a:t>
                      </a:r>
                    </a:p>
                  </a:txBody>
                  <a:tcPr marL="45720" marR="45720" marT="27432" marB="27432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404040"/>
                          </a:solidFill>
                          <a:latin typeface="Times New Roman"/>
                        </a:rPr>
                        <a:t>●○○ ~33x</a:t>
                      </a:r>
                    </a:p>
                  </a:txBody>
                  <a:tcPr marL="45720" marR="45720" marT="27432" marB="27432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404040"/>
                          </a:solidFill>
                          <a:latin typeface="Times New Roman"/>
                        </a:rPr>
                        <a:t>●○○ ~48x</a:t>
                      </a:r>
                    </a:p>
                  </a:txBody>
                  <a:tcPr marL="45720" marR="45720" marT="27432" marB="27432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404040"/>
                          </a:solidFill>
                          <a:latin typeface="Times New Roman"/>
                        </a:rPr>
                        <a:t>●●● ~14x</a:t>
                      </a:r>
                    </a:p>
                  </a:txBody>
                  <a:tcPr marL="45720" marR="45720" marT="27432" marB="27432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404040"/>
                          </a:solidFill>
                          <a:latin typeface="Times New Roman"/>
                        </a:rPr>
                        <a:t>●●○ ~30x</a:t>
                      </a:r>
                    </a:p>
                  </a:txBody>
                  <a:tcPr marL="45720" marR="45720" marT="27432" marB="27432">
                    <a:solidFill>
                      <a:srgbClr val="F2F2F2"/>
                    </a:solidFill>
                  </a:tcPr>
                </a:tc>
              </a:tr>
              <a:tr h="61722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17365D"/>
                          </a:solidFill>
                          <a:latin typeface="Times New Roman"/>
                        </a:rPr>
                        <a:t>Customer concentration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404040"/>
                          </a:solidFill>
                          <a:latin typeface="Times New Roman"/>
                        </a:rPr>
                        <a:t>●○○ few hyperscalers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404040"/>
                          </a:solidFill>
                          <a:latin typeface="Times New Roman"/>
                        </a:rPr>
                        <a:t>●●○ broad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404040"/>
                          </a:solidFill>
                          <a:latin typeface="Times New Roman"/>
                        </a:rPr>
                        <a:t>●●○ broad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404040"/>
                          </a:solidFill>
                          <a:latin typeface="Times New Roman"/>
                        </a:rPr>
                        <a:t>●○○ few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404040"/>
                          </a:solidFill>
                          <a:latin typeface="Times New Roman"/>
                        </a:rPr>
                        <a:t>●●● diversified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404040"/>
                          </a:solidFill>
                          <a:latin typeface="Times New Roman"/>
                        </a:rPr>
                        <a:t>●●● diversified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57200" y="6510528"/>
            <a:ext cx="112471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 i="1">
                <a:solidFill>
                  <a:srgbClr val="BFBFBF"/>
                </a:solidFill>
                <a:latin typeface="Times New Roman"/>
              </a:rPr>
              <a:t>● = stronger / ○ = weaker on each axis (higher fwd P/E = weaker value score). Calibrated to AVGO-Comps-Analysis.xlsx.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1247120" cy="8686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400" b="1" i="0">
                <a:solidFill>
                  <a:srgbClr val="17365D"/>
                </a:solidFill>
                <a:latin typeface="Times New Roman"/>
              </a:rPr>
              <a:t>Valuation I — every method puts fair value at or below the $460 market price</a:t>
            </a:r>
          </a:p>
        </p:txBody>
      </p:sp>
      <p:pic>
        <p:nvPicPr>
          <p:cNvPr id="4" name="Picture 3" descr="footba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234440"/>
            <a:ext cx="7680960" cy="377576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321040" y="1280160"/>
            <a:ext cx="3657600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1" i="0">
                <a:solidFill>
                  <a:srgbClr val="17365D"/>
                </a:solidFill>
                <a:latin typeface="Times New Roman"/>
              </a:rPr>
              <a:t>How to read it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321040" y="1783080"/>
            <a:ext cx="3657600" cy="45720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0" i="0">
                <a:solidFill>
                  <a:srgbClr val="404040"/>
                </a:solidFill>
                <a:latin typeface="Times New Roman"/>
              </a:rPr>
              <a:t>• DCF base ($246) and the full WACC×g grid ($185–289) sit well below $460.</a:t>
            </a:r>
          </a:p>
          <a:p>
            <a:pPr algn="l"/>
            <a:r>
              <a:rPr sz="1100" b="0" i="0">
                <a:solidFill>
                  <a:srgbClr val="404040"/>
                </a:solidFill>
                <a:latin typeface="Times New Roman"/>
              </a:rPr>
              <a:t/>
            </a:r>
          </a:p>
          <a:p>
            <a:pPr algn="l"/>
            <a:r>
              <a:rPr sz="1100" b="0" i="0">
                <a:solidFill>
                  <a:srgbClr val="404040"/>
                </a:solidFill>
                <a:latin typeface="Times New Roman"/>
              </a:rPr>
              <a:t>• Comps (semis-median EV/EBITDA and fwd P/E applied to AVGO) imply ~$300–480 — AVGO already trades at/above the cohort.</a:t>
            </a:r>
          </a:p>
          <a:p>
            <a:pPr algn="l"/>
            <a:r>
              <a:rPr sz="1100" b="0" i="0">
                <a:solidFill>
                  <a:srgbClr val="404040"/>
                </a:solidFill>
                <a:latin typeface="Times New Roman"/>
              </a:rPr>
              <a:t/>
            </a:r>
          </a:p>
          <a:p>
            <a:pPr algn="l"/>
            <a:r>
              <a:rPr sz="1100" b="0" i="0">
                <a:solidFill>
                  <a:srgbClr val="404040"/>
                </a:solidFill>
                <a:latin typeface="Times New Roman"/>
              </a:rPr>
              <a:t>• Only the DCF BULL case (mgmt's FY27 AI delivered) reaches into the $460 zone.</a:t>
            </a:r>
          </a:p>
          <a:p>
            <a:pPr algn="l"/>
            <a:r>
              <a:rPr sz="1100" b="0" i="0">
                <a:solidFill>
                  <a:srgbClr val="404040"/>
                </a:solidFill>
                <a:latin typeface="Times New Roman"/>
              </a:rPr>
              <a:t/>
            </a:r>
          </a:p>
          <a:p>
            <a:pPr algn="l"/>
            <a:r>
              <a:rPr sz="1100" b="0" i="0">
                <a:solidFill>
                  <a:srgbClr val="404040"/>
                </a:solidFill>
                <a:latin typeface="Times New Roman"/>
              </a:rPr>
              <a:t>• Conclusion: at $460 the market prices the bull case as the base case.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510528"/>
            <a:ext cx="112471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 i="1">
                <a:solidFill>
                  <a:srgbClr val="BFBFBF"/>
                </a:solidFill>
                <a:latin typeface="Times New Roman"/>
              </a:rPr>
              <a:t>Football field combines DCF (AVGO-Model.xlsx) and comps (AVGO-Comps-Analysis.xlsx). Ranges are illustrative of method spread.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1247120" cy="8686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400" b="1" i="0">
                <a:solidFill>
                  <a:srgbClr val="17365D"/>
                </a:solidFill>
                <a:latin typeface="Times New Roman"/>
              </a:rPr>
              <a:t>Valuation II — base-case DCF $246/share; the entire WACC × growth grid is below $460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280160"/>
          <a:ext cx="5120640" cy="402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08960"/>
                <a:gridCol w="2011680"/>
              </a:tblGrid>
              <a:tr h="402336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Times New Roman"/>
                        </a:rPr>
                        <a:t>DCF bridge (base)</a:t>
                      </a:r>
                    </a:p>
                  </a:txBody>
                  <a:tcPr marL="45720" marR="45720" marT="27432" marB="27432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Times New Roman"/>
                        </a:rPr>
                        <a:t>$M / $</a:t>
                      </a:r>
                    </a:p>
                  </a:txBody>
                  <a:tcPr marL="45720" marR="45720" marT="27432" marB="27432">
                    <a:solidFill>
                      <a:srgbClr val="17365D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7365D"/>
                          </a:solidFill>
                          <a:latin typeface="Times New Roman"/>
                        </a:rPr>
                        <a:t>PV of explicit FCF (FY26–30)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404040"/>
                          </a:solidFill>
                          <a:latin typeface="Times New Roman"/>
                        </a:rPr>
                        <a:t>253,310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7365D"/>
                          </a:solidFill>
                          <a:latin typeface="Times New Roman"/>
                        </a:rPr>
                        <a:t>PV of terminal value</a:t>
                      </a:r>
                    </a:p>
                  </a:txBody>
                  <a:tcPr marL="45720" marR="45720" marT="27432" marB="27432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404040"/>
                          </a:solidFill>
                          <a:latin typeface="Times New Roman"/>
                        </a:rPr>
                        <a:t>961,358</a:t>
                      </a:r>
                    </a:p>
                  </a:txBody>
                  <a:tcPr marL="45720" marR="45720" marT="27432" marB="27432">
                    <a:solidFill>
                      <a:srgbClr val="F2F2F2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7365D"/>
                          </a:solidFill>
                          <a:latin typeface="Times New Roman"/>
                        </a:rPr>
                        <a:t>Enterprise value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404040"/>
                          </a:solidFill>
                          <a:latin typeface="Times New Roman"/>
                        </a:rPr>
                        <a:t>1,214,669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7365D"/>
                          </a:solidFill>
                          <a:latin typeface="Times New Roman"/>
                        </a:rPr>
                        <a:t>(–) Net debt</a:t>
                      </a:r>
                    </a:p>
                  </a:txBody>
                  <a:tcPr marL="45720" marR="45720" marT="27432" marB="27432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404040"/>
                          </a:solidFill>
                          <a:latin typeface="Times New Roman"/>
                        </a:rPr>
                        <a:t>(51,857)</a:t>
                      </a:r>
                    </a:p>
                  </a:txBody>
                  <a:tcPr marL="45720" marR="45720" marT="27432" marB="27432">
                    <a:solidFill>
                      <a:srgbClr val="F2F2F2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7365D"/>
                          </a:solidFill>
                          <a:latin typeface="Times New Roman"/>
                        </a:rPr>
                        <a:t>Equity value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404040"/>
                          </a:solidFill>
                          <a:latin typeface="Times New Roman"/>
                        </a:rPr>
                        <a:t>1,162,812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7365D"/>
                          </a:solidFill>
                          <a:latin typeface="Times New Roman"/>
                        </a:rPr>
                        <a:t>÷ Diluted shares (M)</a:t>
                      </a:r>
                    </a:p>
                  </a:txBody>
                  <a:tcPr marL="45720" marR="45720" marT="27432" marB="27432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404040"/>
                          </a:solidFill>
                          <a:latin typeface="Times New Roman"/>
                        </a:rPr>
                        <a:t>4,730</a:t>
                      </a:r>
                    </a:p>
                  </a:txBody>
                  <a:tcPr marL="45720" marR="45720" marT="27432" marB="27432">
                    <a:solidFill>
                      <a:srgbClr val="F2F2F2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7365D"/>
                          </a:solidFill>
                          <a:latin typeface="Times New Roman"/>
                        </a:rPr>
                        <a:t>Implied value / share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404040"/>
                          </a:solidFill>
                          <a:latin typeface="Times New Roman"/>
                        </a:rPr>
                        <a:t>$245.84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7365D"/>
                          </a:solidFill>
                          <a:latin typeface="Times New Roman"/>
                        </a:rPr>
                        <a:t>Current price</a:t>
                      </a:r>
                    </a:p>
                  </a:txBody>
                  <a:tcPr marL="45720" marR="45720" marT="27432" marB="27432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404040"/>
                          </a:solidFill>
                          <a:latin typeface="Times New Roman"/>
                        </a:rPr>
                        <a:t>$460.00</a:t>
                      </a:r>
                    </a:p>
                  </a:txBody>
                  <a:tcPr marL="45720" marR="45720" marT="27432" marB="27432">
                    <a:solidFill>
                      <a:srgbClr val="F2F2F2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7365D"/>
                          </a:solidFill>
                          <a:latin typeface="Times New Roman"/>
                        </a:rPr>
                        <a:t>Upside / (downside)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404040"/>
                          </a:solidFill>
                          <a:latin typeface="Times New Roman"/>
                        </a:rPr>
                        <a:t>(46.6%)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852160" y="1280160"/>
            <a:ext cx="585216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1" i="0">
                <a:solidFill>
                  <a:srgbClr val="17365D"/>
                </a:solidFill>
                <a:latin typeface="Times New Roman"/>
              </a:rPr>
              <a:t>Sensitivity — implied $/share (WACC × terminal g)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852160" y="1691640"/>
          <a:ext cx="589788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54480"/>
                <a:gridCol w="868680"/>
                <a:gridCol w="868680"/>
                <a:gridCol w="868680"/>
                <a:gridCol w="868680"/>
                <a:gridCol w="868680"/>
              </a:tblGrid>
              <a:tr h="457200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Times New Roman"/>
                        </a:rPr>
                        <a:t>WACC ↓ / g →</a:t>
                      </a:r>
                    </a:p>
                  </a:txBody>
                  <a:tcPr marL="45720" marR="45720" marT="27432" marB="27432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Times New Roman"/>
                        </a:rPr>
                        <a:t>2.5%</a:t>
                      </a:r>
                    </a:p>
                  </a:txBody>
                  <a:tcPr marL="45720" marR="45720" marT="27432" marB="27432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Times New Roman"/>
                        </a:rPr>
                        <a:t>3.0%</a:t>
                      </a:r>
                    </a:p>
                  </a:txBody>
                  <a:tcPr marL="45720" marR="45720" marT="27432" marB="27432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Times New Roman"/>
                        </a:rPr>
                        <a:t>3.5%</a:t>
                      </a:r>
                    </a:p>
                  </a:txBody>
                  <a:tcPr marL="45720" marR="45720" marT="27432" marB="27432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Times New Roman"/>
                        </a:rPr>
                        <a:t>4.0%</a:t>
                      </a:r>
                    </a:p>
                  </a:txBody>
                  <a:tcPr marL="45720" marR="45720" marT="27432" marB="27432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Times New Roman"/>
                        </a:rPr>
                        <a:t>4.5%</a:t>
                      </a:r>
                    </a:p>
                  </a:txBody>
                  <a:tcPr marL="45720" marR="45720" marT="27432" marB="27432">
                    <a:solidFill>
                      <a:srgbClr val="17365D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17365D"/>
                          </a:solidFill>
                          <a:latin typeface="Times New Roman"/>
                        </a:rPr>
                        <a:t>8.5%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404040"/>
                          </a:solidFill>
                          <a:latin typeface="Times New Roman"/>
                        </a:rPr>
                        <a:t>255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404040"/>
                          </a:solidFill>
                          <a:latin typeface="Times New Roman"/>
                        </a:rPr>
                        <a:t>275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404040"/>
                          </a:solidFill>
                          <a:latin typeface="Times New Roman"/>
                        </a:rPr>
                        <a:t>300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404040"/>
                          </a:solidFill>
                          <a:latin typeface="Times New Roman"/>
                        </a:rPr>
                        <a:t>329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404040"/>
                          </a:solidFill>
                          <a:latin typeface="Times New Roman"/>
                        </a:rPr>
                        <a:t>367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17365D"/>
                          </a:solidFill>
                          <a:latin typeface="Times New Roman"/>
                        </a:rPr>
                        <a:t>9.0%</a:t>
                      </a:r>
                    </a:p>
                  </a:txBody>
                  <a:tcPr marL="45720" marR="45720" marT="27432" marB="27432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404040"/>
                          </a:solidFill>
                          <a:latin typeface="Times New Roman"/>
                        </a:rPr>
                        <a:t>234</a:t>
                      </a:r>
                    </a:p>
                  </a:txBody>
                  <a:tcPr marL="45720" marR="45720" marT="27432" marB="27432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404040"/>
                          </a:solidFill>
                          <a:latin typeface="Times New Roman"/>
                        </a:rPr>
                        <a:t>250</a:t>
                      </a:r>
                    </a:p>
                  </a:txBody>
                  <a:tcPr marL="45720" marR="45720" marT="27432" marB="27432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404040"/>
                          </a:solidFill>
                          <a:latin typeface="Times New Roman"/>
                        </a:rPr>
                        <a:t>270</a:t>
                      </a:r>
                    </a:p>
                  </a:txBody>
                  <a:tcPr marL="45720" marR="45720" marT="27432" marB="27432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404040"/>
                          </a:solidFill>
                          <a:latin typeface="Times New Roman"/>
                        </a:rPr>
                        <a:t>294</a:t>
                      </a:r>
                    </a:p>
                  </a:txBody>
                  <a:tcPr marL="45720" marR="45720" marT="27432" marB="27432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404040"/>
                          </a:solidFill>
                          <a:latin typeface="Times New Roman"/>
                        </a:rPr>
                        <a:t>323</a:t>
                      </a:r>
                    </a:p>
                  </a:txBody>
                  <a:tcPr marL="45720" marR="45720" marT="27432" marB="27432">
                    <a:solidFill>
                      <a:srgbClr val="F2F2F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17365D"/>
                          </a:solidFill>
                          <a:latin typeface="Times New Roman"/>
                        </a:rPr>
                        <a:t>9.5% (base)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404040"/>
                          </a:solidFill>
                          <a:latin typeface="Times New Roman"/>
                        </a:rPr>
                        <a:t>215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404040"/>
                          </a:solidFill>
                          <a:latin typeface="Times New Roman"/>
                        </a:rPr>
                        <a:t>229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404040"/>
                          </a:solidFill>
                          <a:latin typeface="Times New Roman"/>
                        </a:rPr>
                        <a:t>246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404040"/>
                          </a:solidFill>
                          <a:latin typeface="Times New Roman"/>
                        </a:rPr>
                        <a:t>265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404040"/>
                          </a:solidFill>
                          <a:latin typeface="Times New Roman"/>
                        </a:rPr>
                        <a:t>289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17365D"/>
                          </a:solidFill>
                          <a:latin typeface="Times New Roman"/>
                        </a:rPr>
                        <a:t>10.0%</a:t>
                      </a:r>
                    </a:p>
                  </a:txBody>
                  <a:tcPr marL="45720" marR="45720" marT="27432" marB="27432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404040"/>
                          </a:solidFill>
                          <a:latin typeface="Times New Roman"/>
                        </a:rPr>
                        <a:t>199</a:t>
                      </a:r>
                    </a:p>
                  </a:txBody>
                  <a:tcPr marL="45720" marR="45720" marT="27432" marB="27432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404040"/>
                          </a:solidFill>
                          <a:latin typeface="Times New Roman"/>
                        </a:rPr>
                        <a:t>211</a:t>
                      </a:r>
                    </a:p>
                  </a:txBody>
                  <a:tcPr marL="45720" marR="45720" marT="27432" marB="27432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404040"/>
                          </a:solidFill>
                          <a:latin typeface="Times New Roman"/>
                        </a:rPr>
                        <a:t>225</a:t>
                      </a:r>
                    </a:p>
                  </a:txBody>
                  <a:tcPr marL="45720" marR="45720" marT="27432" marB="27432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404040"/>
                          </a:solidFill>
                          <a:latin typeface="Times New Roman"/>
                        </a:rPr>
                        <a:t>242</a:t>
                      </a:r>
                    </a:p>
                  </a:txBody>
                  <a:tcPr marL="45720" marR="45720" marT="27432" marB="27432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404040"/>
                          </a:solidFill>
                          <a:latin typeface="Times New Roman"/>
                        </a:rPr>
                        <a:t>261</a:t>
                      </a:r>
                    </a:p>
                  </a:txBody>
                  <a:tcPr marL="45720" marR="45720" marT="27432" marB="27432">
                    <a:solidFill>
                      <a:srgbClr val="F2F2F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17365D"/>
                          </a:solidFill>
                          <a:latin typeface="Times New Roman"/>
                        </a:rPr>
                        <a:t>10.5%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404040"/>
                          </a:solidFill>
                          <a:latin typeface="Times New Roman"/>
                        </a:rPr>
                        <a:t>185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404040"/>
                          </a:solidFill>
                          <a:latin typeface="Times New Roman"/>
                        </a:rPr>
                        <a:t>196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404040"/>
                          </a:solidFill>
                          <a:latin typeface="Times New Roman"/>
                        </a:rPr>
                        <a:t>208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404040"/>
                          </a:solidFill>
                          <a:latin typeface="Times New Roman"/>
                        </a:rPr>
                        <a:t>221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404040"/>
                          </a:solidFill>
                          <a:latin typeface="Times New Roman"/>
                        </a:rPr>
                        <a:t>237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852160" y="4572000"/>
            <a:ext cx="5943600" cy="17373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0" i="0">
                <a:solidFill>
                  <a:srgbClr val="404040"/>
                </a:solidFill>
                <a:latin typeface="Times New Roman"/>
              </a:rPr>
              <a:t>• Center cell ($246) = base case. Terminal value is ~79% of EV — valuation is very sensitive to WACC/g.</a:t>
            </a:r>
          </a:p>
          <a:p>
            <a:pPr algn="l"/>
            <a:r>
              <a:rPr sz="1100" b="0" i="0">
                <a:solidFill>
                  <a:srgbClr val="404040"/>
                </a:solidFill>
                <a:latin typeface="Times New Roman"/>
              </a:rPr>
              <a:t>• Even the most generous corner (WACC 8.5% / g 4.5%) = $367 on base FCF.</a:t>
            </a:r>
          </a:p>
          <a:p>
            <a:pPr algn="l"/>
            <a:r>
              <a:rPr sz="1100" b="0" i="0">
                <a:solidFill>
                  <a:srgbClr val="404040"/>
                </a:solidFill>
                <a:latin typeface="Times New Roman"/>
              </a:rPr>
              <a:t>• To reach $460 you ALSO need FCF above base — i.e., mgmt's full $100B+ FY27 AI delivered (the bull case).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510528"/>
            <a:ext cx="112471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 i="1">
                <a:solidFill>
                  <a:srgbClr val="BFBFBF"/>
                </a:solidFill>
                <a:latin typeface="Times New Roman"/>
              </a:rPr>
              <a:t>Source: AVGO-Model.xlsx (validated, 0 formula errors). Base case haircuts mgmt FY27 AI guidance ~24% for execution / OpenAI-financing risk.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1247120" cy="8686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400" b="1" i="0">
                <a:solidFill>
                  <a:srgbClr val="17365D"/>
                </a:solidFill>
                <a:latin typeface="Times New Roman"/>
              </a:rPr>
              <a:t>Strategic synthesis — Moat: design lock-in + IP + FCF · Risk: concentration + valuation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280160"/>
          <a:ext cx="1124712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/>
                <a:gridCol w="1188720"/>
                <a:gridCol w="1188720"/>
                <a:gridCol w="1188720"/>
                <a:gridCol w="5486400"/>
              </a:tblGrid>
              <a:tr h="54864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Times New Roman"/>
                        </a:rPr>
                        <a:t>Moat type</a:t>
                      </a:r>
                    </a:p>
                  </a:txBody>
                  <a:tcPr marL="45720" marR="45720" marT="27432" marB="27432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Times New Roman"/>
                        </a:rPr>
                        <a:t>AVGO</a:t>
                      </a:r>
                    </a:p>
                  </a:txBody>
                  <a:tcPr marL="45720" marR="45720" marT="27432" marB="27432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Times New Roman"/>
                        </a:rPr>
                        <a:t>NVDA</a:t>
                      </a:r>
                    </a:p>
                  </a:txBody>
                  <a:tcPr marL="45720" marR="45720" marT="27432" marB="27432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Times New Roman"/>
                        </a:rPr>
                        <a:t>MRVL</a:t>
                      </a:r>
                    </a:p>
                  </a:txBody>
                  <a:tcPr marL="45720" marR="45720" marT="27432" marB="27432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Times New Roman"/>
                        </a:rPr>
                        <a:t>What it means</a:t>
                      </a:r>
                    </a:p>
                  </a:txBody>
                  <a:tcPr marL="45720" marR="45720" marT="27432" marB="27432">
                    <a:solidFill>
                      <a:srgbClr val="17365D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7365D"/>
                          </a:solidFill>
                          <a:latin typeface="Times New Roman"/>
                        </a:rPr>
                        <a:t>Switching costs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404040"/>
                          </a:solidFill>
                          <a:latin typeface="Times New Roman"/>
                        </a:rPr>
                        <a:t>Strong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404040"/>
                          </a:solidFill>
                          <a:latin typeface="Times New Roman"/>
                        </a:rPr>
                        <a:t>Strong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404040"/>
                          </a:solidFill>
                          <a:latin typeface="Times New Roman"/>
                        </a:rPr>
                        <a:t>Mod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404040"/>
                          </a:solidFill>
                          <a:latin typeface="Times New Roman"/>
                        </a:rPr>
                        <a:t>Custom-silicon re-spin + VMware lock-in are sticky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7365D"/>
                          </a:solidFill>
                          <a:latin typeface="Times New Roman"/>
                        </a:rPr>
                        <a:t>Intangibles (IP)</a:t>
                      </a:r>
                    </a:p>
                  </a:txBody>
                  <a:tcPr marL="45720" marR="45720" marT="27432" marB="27432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404040"/>
                          </a:solidFill>
                          <a:latin typeface="Times New Roman"/>
                        </a:rPr>
                        <a:t>Strong</a:t>
                      </a:r>
                    </a:p>
                  </a:txBody>
                  <a:tcPr marL="45720" marR="45720" marT="27432" marB="27432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404040"/>
                          </a:solidFill>
                          <a:latin typeface="Times New Roman"/>
                        </a:rPr>
                        <a:t>Strong</a:t>
                      </a:r>
                    </a:p>
                  </a:txBody>
                  <a:tcPr marL="45720" marR="45720" marT="27432" marB="27432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404040"/>
                          </a:solidFill>
                          <a:latin typeface="Times New Roman"/>
                        </a:rPr>
                        <a:t>Mod</a:t>
                      </a:r>
                    </a:p>
                  </a:txBody>
                  <a:tcPr marL="45720" marR="45720" marT="27432" marB="27432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404040"/>
                          </a:solidFill>
                          <a:latin typeface="Times New Roman"/>
                        </a:rPr>
                        <a:t>SerDes/optical/analog IP; CUDA is NVDA's equivalent</a:t>
                      </a:r>
                    </a:p>
                  </a:txBody>
                  <a:tcPr marL="45720" marR="45720" marT="27432" marB="27432">
                    <a:solidFill>
                      <a:srgbClr val="F2F2F2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7365D"/>
                          </a:solidFill>
                          <a:latin typeface="Times New Roman"/>
                        </a:rPr>
                        <a:t>Scale economies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404040"/>
                          </a:solidFill>
                          <a:latin typeface="Times New Roman"/>
                        </a:rPr>
                        <a:t>Strong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404040"/>
                          </a:solidFill>
                          <a:latin typeface="Times New Roman"/>
                        </a:rPr>
                        <a:t>Strong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404040"/>
                          </a:solidFill>
                          <a:latin typeface="Times New Roman"/>
                        </a:rPr>
                        <a:t>Weak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404040"/>
                          </a:solidFill>
                          <a:latin typeface="Times New Roman"/>
                        </a:rPr>
                        <a:t>R&amp;D + supply scale; AVGO + NVDA dominate spend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7365D"/>
                          </a:solidFill>
                          <a:latin typeface="Times New Roman"/>
                        </a:rPr>
                        <a:t>Network effects</a:t>
                      </a:r>
                    </a:p>
                  </a:txBody>
                  <a:tcPr marL="45720" marR="45720" marT="27432" marB="27432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404040"/>
                          </a:solidFill>
                          <a:latin typeface="Times New Roman"/>
                        </a:rPr>
                        <a:t>Weak</a:t>
                      </a:r>
                    </a:p>
                  </a:txBody>
                  <a:tcPr marL="45720" marR="45720" marT="27432" marB="27432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404040"/>
                          </a:solidFill>
                          <a:latin typeface="Times New Roman"/>
                        </a:rPr>
                        <a:t>Strong</a:t>
                      </a:r>
                    </a:p>
                  </a:txBody>
                  <a:tcPr marL="45720" marR="45720" marT="27432" marB="27432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404040"/>
                          </a:solidFill>
                          <a:latin typeface="Times New Roman"/>
                        </a:rPr>
                        <a:t>Weak</a:t>
                      </a:r>
                    </a:p>
                  </a:txBody>
                  <a:tcPr marL="45720" marR="45720" marT="27432" marB="27432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404040"/>
                          </a:solidFill>
                          <a:latin typeface="Times New Roman"/>
                        </a:rPr>
                        <a:t>NVDA's CUDA ecosystem is the real network effect</a:t>
                      </a:r>
                    </a:p>
                  </a:txBody>
                  <a:tcPr marL="45720" marR="45720" marT="27432" marB="27432">
                    <a:solidFill>
                      <a:srgbClr val="F2F2F2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7365D"/>
                          </a:solidFill>
                          <a:latin typeface="Times New Roman"/>
                        </a:rPr>
                        <a:t>Cost / capital discipline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404040"/>
                          </a:solidFill>
                          <a:latin typeface="Times New Roman"/>
                        </a:rPr>
                        <a:t>Strong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404040"/>
                          </a:solidFill>
                          <a:latin typeface="Times New Roman"/>
                        </a:rPr>
                        <a:t>Mod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404040"/>
                          </a:solidFill>
                          <a:latin typeface="Times New Roman"/>
                        </a:rPr>
                        <a:t>Mod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404040"/>
                          </a:solidFill>
                          <a:latin typeface="Times New Roman"/>
                        </a:rPr>
                        <a:t>Hock Tan FCF + de-levering playbook is a differentiator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57200" y="4754880"/>
            <a:ext cx="1124712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00" b="1" i="0">
                <a:solidFill>
                  <a:srgbClr val="17365D"/>
                </a:solidFill>
                <a:latin typeface="Times New Roman"/>
              </a:rPr>
              <a:t>Net assessment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120640"/>
            <a:ext cx="11247120" cy="12801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0" i="0">
                <a:solidFill>
                  <a:srgbClr val="404040"/>
                </a:solidFill>
                <a:latin typeface="Times New Roman"/>
              </a:rPr>
              <a:t>Durable advantages: (i) ~70% custom-ASIC design share with multi-gen lock-in, (ii) leading open-Ethernet AI networking, (iii) a ~$27B/yr ~78%-margin VMware annuity funding capital return.</a:t>
            </a:r>
          </a:p>
          <a:p>
            <a:pPr algn="l"/>
            <a:r>
              <a:rPr sz="1200" b="0" i="0">
                <a:solidFill>
                  <a:srgbClr val="404040"/>
                </a:solidFill>
                <a:latin typeface="Times New Roman"/>
              </a:rPr>
              <a:t>Structural vulnerabilities: (i) AI revenue concentrated in a few hyperscaler programs (OpenAI financing snag is live), (ii) Google multi-sourcing dilutes content, (iii) valuation leaves no margin of safety — $460 already prices the bull AI ramp.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510528"/>
            <a:ext cx="112471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 i="1">
                <a:solidFill>
                  <a:srgbClr val="BFBFBF"/>
                </a:solidFill>
                <a:latin typeface="Times New Roman"/>
              </a:rPr>
              <a:t>Moat framework per `competitive-analysis` Step 9. Strong / Moderate (Mod) / Weak relative to peers.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1247120" cy="8686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400" b="1" i="0">
                <a:solidFill>
                  <a:srgbClr val="17365D"/>
                </a:solidFill>
                <a:latin typeface="Times New Roman"/>
              </a:rPr>
              <a:t>Bull / base / bear — anchored to the DCF: the market price embeds the bull case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280160"/>
          <a:ext cx="11247120" cy="3474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8720"/>
                <a:gridCol w="822960"/>
                <a:gridCol w="5120640"/>
                <a:gridCol w="4114800"/>
              </a:tblGrid>
              <a:tr h="86868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Times New Roman"/>
                        </a:rPr>
                        <a:t>Scenario</a:t>
                      </a:r>
                    </a:p>
                  </a:txBody>
                  <a:tcPr marL="45720" marR="45720" marT="27432" marB="27432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Times New Roman"/>
                        </a:rPr>
                        <a:t>Prob.</a:t>
                      </a:r>
                    </a:p>
                  </a:txBody>
                  <a:tcPr marL="45720" marR="45720" marT="27432" marB="27432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Times New Roman"/>
                        </a:rPr>
                        <a:t>Key drivers</a:t>
                      </a:r>
                    </a:p>
                  </a:txBody>
                  <a:tcPr marL="45720" marR="45720" marT="27432" marB="27432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Times New Roman"/>
                        </a:rPr>
                        <a:t>DCF value / read</a:t>
                      </a:r>
                    </a:p>
                  </a:txBody>
                  <a:tcPr marL="45720" marR="45720" marT="27432" marB="27432">
                    <a:solidFill>
                      <a:srgbClr val="17365D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7365D"/>
                          </a:solidFill>
                          <a:latin typeface="Times New Roman"/>
                        </a:rPr>
                        <a:t>Bull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404040"/>
                          </a:solidFill>
                          <a:latin typeface="Times New Roman"/>
                        </a:rPr>
                        <a:t>30%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404040"/>
                          </a:solidFill>
                          <a:latin typeface="Times New Roman"/>
                        </a:rPr>
                        <a:t>Mgmt's $100B+ FY27 AI delivered &amp; sustained; OpenAI deal funded; networking share gains; WACC ~8.5%, g ~4.5%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404040"/>
                          </a:solidFill>
                          <a:latin typeface="Times New Roman"/>
                        </a:rPr>
                        <a:t>~$470–520 — justifies (and exceeds) the $460 price; this is what the market currently embeds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7365D"/>
                          </a:solidFill>
                          <a:latin typeface="Times New Roman"/>
                        </a:rPr>
                        <a:t>Base</a:t>
                      </a:r>
                    </a:p>
                  </a:txBody>
                  <a:tcPr marL="45720" marR="45720" marT="27432" marB="27432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404040"/>
                          </a:solidFill>
                          <a:latin typeface="Times New Roman"/>
                        </a:rPr>
                        <a:t>45%</a:t>
                      </a:r>
                    </a:p>
                  </a:txBody>
                  <a:tcPr marL="45720" marR="45720" marT="27432" marB="27432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404040"/>
                          </a:solidFill>
                          <a:latin typeface="Times New Roman"/>
                        </a:rPr>
                        <a:t>AI FY27 ~$76B (mgmt guidance haircut ~24%); software annuity steady; WACC 9.5%, g 3.5%</a:t>
                      </a:r>
                    </a:p>
                  </a:txBody>
                  <a:tcPr marL="45720" marR="45720" marT="27432" marB="27432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404040"/>
                          </a:solidFill>
                          <a:latin typeface="Times New Roman"/>
                        </a:rPr>
                        <a:t>~$246 — high-quality compounder, but ~47% below the current price</a:t>
                      </a:r>
                    </a:p>
                  </a:txBody>
                  <a:tcPr marL="45720" marR="45720" marT="27432" marB="27432">
                    <a:solidFill>
                      <a:srgbClr val="F2F2F2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7365D"/>
                          </a:solidFill>
                          <a:latin typeface="Times New Roman"/>
                        </a:rPr>
                        <a:t>Bear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404040"/>
                          </a:solidFill>
                          <a:latin typeface="Times New Roman"/>
                        </a:rPr>
                        <a:t>25%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404040"/>
                          </a:solidFill>
                          <a:latin typeface="Times New Roman"/>
                        </a:rPr>
                        <a:t>AI digestion into 2027–28; OpenAI program stalls; Google multi-sourcing erodes content; WACC ~10.5%, g ~2.5%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404040"/>
                          </a:solidFill>
                          <a:latin typeface="Times New Roman"/>
                        </a:rPr>
                        <a:t>~$185–210 — multiple compresses as growth normalizes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57200" y="5029200"/>
            <a:ext cx="1124712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00" b="1" i="0">
                <a:solidFill>
                  <a:srgbClr val="17365D"/>
                </a:solidFill>
                <a:latin typeface="Times New Roman"/>
              </a:rPr>
              <a:t>Signposts that move the weighting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440680"/>
            <a:ext cx="11247120" cy="8229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0" i="0">
                <a:solidFill>
                  <a:srgbClr val="404040"/>
                </a:solidFill>
                <a:latin typeface="Times New Roman"/>
              </a:rPr>
              <a:t>1) OpenAI $18B financing structure resolved or not   2) Q2/Q3 FY26 AI revenue vs the $10.7B→ramp guide   3) hyperscaler 2027 capex guidance (acceleration vs digestion)   4) any Google/Meta program re-sourcing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510528"/>
            <a:ext cx="112471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 i="1">
                <a:solidFill>
                  <a:srgbClr val="BFBFBF"/>
                </a:solidFill>
                <a:latin typeface="Times New Roman"/>
              </a:rPr>
              <a:t>Probabilities are author's judgment, not consensus. DCF values from AVGO-Model.xlsx sensitivity + bull-FCF overlay.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1247120" cy="8686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400" b="1" i="0">
                <a:solidFill>
                  <a:srgbClr val="17365D"/>
                </a:solidFill>
                <a:latin typeface="Times New Roman"/>
              </a:rPr>
              <a:t>Decision frame &amp; sources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43000"/>
            <a:ext cx="1124712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00" b="1" i="0">
                <a:solidFill>
                  <a:srgbClr val="17365D"/>
                </a:solidFill>
                <a:latin typeface="Times New Roman"/>
              </a:rPr>
              <a:t>Four ways to express a view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554480"/>
            <a:ext cx="164592" cy="868680"/>
          </a:xfrm>
          <a:prstGeom prst="rect">
            <a:avLst/>
          </a:prstGeom>
          <a:solidFill>
            <a:srgbClr val="17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554480"/>
            <a:ext cx="1078992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1" i="0">
                <a:solidFill>
                  <a:srgbClr val="17365D"/>
                </a:solidFill>
                <a:latin typeface="Times New Roman"/>
              </a:rPr>
              <a:t>Own quality, but wait for a pullback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901952"/>
            <a:ext cx="10789920" cy="5486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0" i="0">
                <a:solidFill>
                  <a:srgbClr val="404040"/>
                </a:solidFill>
                <a:latin typeface="Times New Roman"/>
              </a:rPr>
              <a:t>Best-in-class franchise; no margin of safety at $460. Accumulate toward the base-case zone (high-$200s–low-$300s) or on AI-digestion scares.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2487168"/>
            <a:ext cx="164592" cy="86868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2487168"/>
            <a:ext cx="1078992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1" i="0">
                <a:solidFill>
                  <a:srgbClr val="CC0000"/>
                </a:solidFill>
                <a:latin typeface="Times New Roman"/>
              </a:rPr>
              <a:t>Pair trade: long AVGO / short a richer AI name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834640"/>
            <a:ext cx="10789920" cy="5486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0" i="0">
                <a:solidFill>
                  <a:srgbClr val="404040"/>
                </a:solidFill>
                <a:latin typeface="Times New Roman"/>
              </a:rPr>
              <a:t>Express the quality view while hedging the AI-multiple: long AVGO vs short a higher-beta/expensive AI name on relative valuation.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3419856"/>
            <a:ext cx="164592" cy="868680"/>
          </a:xfrm>
          <a:prstGeom prst="rect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3419856"/>
            <a:ext cx="1078992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1" i="0">
                <a:solidFill>
                  <a:srgbClr val="404040"/>
                </a:solidFill>
                <a:latin typeface="Times New Roman"/>
              </a:rPr>
              <a:t>Play the theme via MRVL (higher beta)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3767328"/>
            <a:ext cx="10789920" cy="5486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0" i="0">
                <a:solidFill>
                  <a:srgbClr val="404040"/>
                </a:solidFill>
                <a:latin typeface="Times New Roman"/>
              </a:rPr>
              <a:t>Same custom-ASIC thesis with more torque (and more risk); smaller, re-rating, single net-debt name.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4352544"/>
            <a:ext cx="164592" cy="868680"/>
          </a:xfrm>
          <a:prstGeom prst="rect">
            <a:avLst/>
          </a:prstGeom>
          <a:solidFill>
            <a:srgbClr val="BFBF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" y="4352544"/>
            <a:ext cx="1078992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1" i="0">
                <a:solidFill>
                  <a:srgbClr val="BFBFBF"/>
                </a:solidFill>
                <a:latin typeface="Times New Roman"/>
              </a:rPr>
              <a:t>Trim / avoid here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4700016"/>
            <a:ext cx="10789920" cy="5486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0" i="0">
                <a:solidFill>
                  <a:srgbClr val="404040"/>
                </a:solidFill>
                <a:latin typeface="Times New Roman"/>
              </a:rPr>
              <a:t>If you believe 2027–28 AI digestion + OpenAI-financing risk, the price already discounts the bull case — trim into strength.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5394960"/>
            <a:ext cx="1124712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1" i="0">
                <a:solidFill>
                  <a:srgbClr val="17365D"/>
                </a:solidFill>
                <a:latin typeface="Times New Roman"/>
              </a:rPr>
              <a:t>Sources &amp; caveats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5715000"/>
            <a:ext cx="11247120" cy="8229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0" i="1">
                <a:solidFill>
                  <a:srgbClr val="404040"/>
                </a:solidFill>
                <a:latin typeface="Times New Roman"/>
              </a:rPr>
              <a:t>AVGO Q1 FY26 &amp; FY23–25 SEC filings/IR; NVDA/AMD/MRVL/QCOM/TXN/ORCL latest 10-Q/IR; StockAnalysis/GuruFocus/Macrotrends (~June 2026); CNBC, The Information, Goldman, Dell'Oro, Allianz for AI-capex &amp; customer detail.</a:t>
            </a:r>
          </a:p>
          <a:p>
            <a:pPr algn="l"/>
            <a:r>
              <a:rPr sz="1000" b="0" i="1">
                <a:solidFill>
                  <a:srgbClr val="404040"/>
                </a:solidFill>
                <a:latin typeface="Times New Roman"/>
              </a:rPr>
              <a:t>MCP terminal connectors (CapIQ/FactSet) NOT configured — public sources used, [E] flags in workbooks. AI/non-AI segment split partly estimated. Research &amp; decision-framing only — NOT investment advice; cross-check a primary terminal before acting.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6510528"/>
            <a:ext cx="112471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 i="1">
                <a:solidFill>
                  <a:srgbClr val="BFBFBF"/>
                </a:solidFill>
                <a:latin typeface="Times New Roman"/>
              </a:rPr>
              <a:t>Built per competitive-analysis + comps-analysis + 3-statement-model + dcf-model skills. Companions: AVGO-Comps-Analysis.xlsx, AVGO-Model.xlsx.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