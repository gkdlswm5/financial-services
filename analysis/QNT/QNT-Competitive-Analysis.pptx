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imes New Roman"/>
              </a:rPr>
              <a:t>Quantinuum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9E1F2"/>
                </a:solidFill>
                <a:latin typeface="Times New Roman"/>
              </a:rPr>
              <a:t>NASDAQ: QNT  |  Competitive Analysis, Comps &amp; Dual-DCF 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imes New Roman"/>
              </a:rPr>
              <a:t>Priced $60 (Jun 3, 2026) above $53–55 range  |  Trading $68  |  Post-money ~$15.6B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9E1F2"/>
                </a:solidFill>
                <a:latin typeface="Times New Roman"/>
              </a:rPr>
              <a:t>Honeywell parent ~48% voting  |  Pre-profit  |  Apollo (FTQC) target 2029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E1F2"/>
                </a:solidFill>
                <a:latin typeface="Times New Roman"/>
              </a:rPr>
              <a:t>Investment workup using 7-skill financial-analysis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Times New Roman"/>
              </a:rPr>
              <a:t>Decision-framing only. Not investment advice.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9E1F2"/>
                </a:solidFill>
                <a:latin typeface="Times New Roman"/>
              </a:rPr>
              <a:t>June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Executive summary — what does $68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9601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Times New Roman"/>
              </a:rPr>
              <a:t>$68 ≈ 2.75× our traditional DCF and ≈ 2.34× the FY35 revenue we model in base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Times New Roman"/>
              </a:rPr>
              <a:t>Stock prices a 15.4% share of the 2035 quantum-computing TAM. Achievable, but the bar is high.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5760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5760720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Framework 1 — Traditional DCF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WACC: 15.85% (rf 4.3% + beta 2.1 × ERP 5.5%)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Terminal growth: 4.0%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12-year horizon (FY24A → FY35E)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FCF crossover: FY2029E (Apollo year)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FY2035E FCF: $1,307M (10-yr CAGR ~75%)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PV of explicit FCF: $1,372M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PV of terminal value: $2,835M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Enterprise value: $4,207M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+ Cash $2,080M = Equity $6,287M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→ Intrinsic $24.76 / share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→ Stock at +175% premium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6692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5669280" cy="457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Framework 2 — Reverse-engineered to $68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5394960" cy="3474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$68 × 253.9M shares = $17.3B mkt cap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Less $2.1B cash → $15.2B EV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Assumed FY35 mature EV/Rev: 8.0×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Solve: FY35E rev needed = $7,680M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Model base case FY35E rev: $3,280M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Implied gap: +134% above model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Implied 2035 share of $50B QC TAM: 15.4%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10-yr revenue CAGR required: ~75%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Required: full Apollo (FTQC) success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→ 'Optionality is mostly priced in'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→ Asymmetry skews DOWN at $68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28192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365D"/>
                </a:solidFill>
                <a:latin typeface="Times New Roman"/>
              </a:rPr>
              <a:t>Decision call: HOLD with downside skew. Buy zone &lt;$45 (peer-median footing). Refresh after Q2'26 print.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The IPO event — June 3,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Priced above range, upsized, ~20x oversubscribed — first major dedicated quantum IPO at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7607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IPO mechanics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45920"/>
          <a:ext cx="5486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</a:tblGrid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Item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Initial range (filed)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$45–50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Revised range (May 26)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$53–55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Final priced (Jun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2E8640"/>
                          </a:solidFill>
                          <a:latin typeface="Times New Roman"/>
                        </a:rPr>
                        <a:t>$60.00 — above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Shares offered (final)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28,000,000 (upsized from 21M)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Gross proceeds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$1.68B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Underwriters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JPM, MS (joint book) +</a:t>
                      </a:r>
                    </a:p>
                    <a:p>
                      <a:r>
                        <a:t>Jefferies, Evercore ISI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Oversubscription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2E8640"/>
                          </a:solidFill>
                          <a:latin typeface="Times New Roman"/>
                        </a:rPr>
                        <a:t>~20× (reported)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Day-1 open (Jun 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2E8640"/>
                          </a:solidFill>
                          <a:latin typeface="Times New Roman"/>
                        </a:rPr>
                        <a:t>$68.00 (+13.3% vs IPO)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Post-money mkt cap (FD)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~$15.6B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Public float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  <a:latin typeface="Times New Roman"/>
                        </a:rPr>
                        <a:t>~8.3% (very thin)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1097280"/>
            <a:ext cx="566928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Cap-table post-IPO (voting)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94960" cy="4114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Honeywell: ~48.1% voting power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- Plus Transaction Committee veto on M&amp;A &gt; $10M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- Plus operating supplier to QNT ('H2 powered by Honeywell')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Cambridge Quantum Holdings: ~32.5% voting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- Aggregates founder Ilyas Khan (~23%), IBM, JSR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Combined HON + CQH: ~82% voting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Public free float: ~8.3% economic, similar voting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Use of proceeds: working capital, R&amp;D,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general corporate purposes. No specific earmark for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Helios/Sol/Apollo named in S-1.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Implied multiple at $60: ~485× EV/FY25 rev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At $68 open: ~491× — peer median ~383× (FY25 basis)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Company profile — and the Honeywell parent 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QNT is the merged Honeywell Quantum Solutions + Cambridge Quantum (Nov 2021)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7607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Quantinuum Inc. (NASDAQ: QNT)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39496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CEO: Ilyas Khan (founder, ex-Cambridge Quantum)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HQ: Cambridge UK + Broomfield CO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Modality: trapped-ion (QCCD architecture)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Tech generations: H1 → H2 → Helios → Sol → Apollo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Funding history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Nov '21: Honeywell-Cambridge merger ($300M Honeywell)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Jan '24: $300M raise @ $5B pre-money (JPMC led)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Sep '25: $600M raise @ $10B pre-money (NVIDIA +)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Jun '26: IPO at $60 → post-money ~$15.6B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Cumulative raised: $2.5B+ over 5 years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Financials (S-1)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FY24 revenue $23.0M | net loss $144.1M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FY25 revenue $30.9M (+34%) | net loss $192.6M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Q1'26 revenue $5.2M | net loss $136.6M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Pre-IPO cash $677M → post-IPO ~$2.1B (~4-year runway)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66928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Honeywell parent angle (HON)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9496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Pre-IPO ownership: ~54%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Post-IPO ownership: ~48.1% voting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(sold down slightly through offering)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Value to HON shareholders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QNT stake at $68 = ~$7.5B (122M shares × $68)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HON market cap ~$138B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→ QNT = ~5.4% of HON value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Modest positive catalyst, NOT transformative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Asymmetries for HON shareholders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Upside: monetization optionality (secondary offering)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Upside: showcase R&amp;D culture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Risk: ongoing related-party supplier obligations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Risk: QNT brand reputation flows back to HON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HON multi-industrial peers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GE Aerospace, RTX, EMR, ITW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HON SOTP: QNT carve-out adds ~3-5% to NAV [E]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Market — quantum computing 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McKinsey $43-71B by 2035; BCG sees $90-170B HW+SW by 2040</a:t>
            </a:r>
          </a:p>
        </p:txBody>
      </p:sp>
      <p:pic>
        <p:nvPicPr>
          <p:cNvPr id="6" name="Picture 5" descr="t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498079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005840"/>
            <a:ext cx="3840480" cy="53035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Times New Roman"/>
              </a:rPr>
              <a:t>Why we use $50B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463040"/>
            <a:ext cx="365760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McKinsey QTM 2026: $43-71B QC by 2035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We use the midpoint ($50B) for the reverse-engineered DCF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Splits within $50B: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~40% hardware ($20B)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~35% cloud + services ($17B)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~25% software / apps ($12B)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Real wild card: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Total economic value $2.7T by 2035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(downstream usage, not vendor revenue)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Risk of mistaking 'value created' for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'value captured' — vendor margin is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the tractable thesis.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Competitive landscape — modality + 2x2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Trapped-ion (QNT, IONQ) currently leads on fidelity; superconducting (IBM, Google, RGTI) on scale</a:t>
            </a:r>
          </a:p>
        </p:txBody>
      </p:sp>
      <p:pic>
        <p:nvPicPr>
          <p:cNvPr id="6" name="Picture 5" descr="modality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858000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914400"/>
            <a:ext cx="4572000" cy="5486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005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Times New Roman"/>
              </a:rPr>
              <a:t>Modality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371600"/>
            <a:ext cx="4389120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Trapped-ion (QNT, IONQ)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+ Highest gate fidelity in industry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+ Long coherence times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- Slower gate speeds; scaling unproven beyond ~100q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Superconducting (IBM, Google, RGTI)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+ Largest qubit counts (Condor 1121q)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+ Fast gates; semis-style scale-up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- Lower fidelity, shorter coherence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Neutral atoms (Atom, QuEra, Pasqal)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+ Excellent scaling potential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+ Reconfigurable arrays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- Earlier commercial maturity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Photonic (PsiQuantum, Xanadu)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+ Room-temperature operation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+ Excellent for networking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- Loss problem, gate speed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Annealing (QBTS)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+ Real customers, optimization niche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- Not universal gate-model — different category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Peer set — 3 public quantum pure-plays + HON memo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As of Jun 3-4, 2026 close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05840"/>
          <a:ext cx="101498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554480"/>
                <a:gridCol w="1188720"/>
                <a:gridCol w="1188720"/>
                <a:gridCol w="1188720"/>
                <a:gridCol w="1280160"/>
                <a:gridCol w="1188720"/>
                <a:gridCol w="1280160"/>
              </a:tblGrid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Ticker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Modality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EV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FY25 rev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Q1'26 YoY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EV/FY25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EV/TTM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QNT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Trapped-ion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$17.3B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$15.2B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$30.9M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~491×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~466×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IONQ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Trapped-ion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$25.5B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$22.4B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$130.0M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2E8640"/>
                          </a:solidFill>
                          <a:latin typeface="Times New Roman"/>
                        </a:rPr>
                        <a:t>+755%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~172×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~120×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RGTI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Superconducting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$7.8B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$7.3B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$7.1M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2E8640"/>
                          </a:solidFill>
                          <a:latin typeface="Times New Roman"/>
                        </a:rPr>
                        <a:t>+199%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~1,023×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~726×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QBTS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Annealing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$10.0B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$9.4B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$24.6M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  <a:latin typeface="Times New Roman"/>
                        </a:rPr>
                        <a:t>−81%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~383×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~754×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HON (memo)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Conglomerate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$138B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$149B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$38,500M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+4%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~3.9×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~3.9×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3832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749039"/>
            <a:ext cx="11612880" cy="2743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IONQ is the direct comp (trapped-ion, similar TAM exposure) — but has 6× QNT's revenue and 7.5× YoY growth.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QNT trades at a +28% premium to peer median on FY25 revenue (~491× vs ~383×) — but at a −36% DISCOUNT on TTM (~466× vs ~726×).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The 'rich vs peers' narrative is wrong vs RGTI/QBTS, correct only vs IONQ.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RGTI revenue is so small ($7M) that any multiple looks distorted — peer-set median has high noise.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QBTS is annealing, not gate-model — not a pure technology comp; trading on Quantum Circuits acquisition optionality.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HON memo: at $7.5B (~$68), QNT stake is ~5.4% of HON market cap. Modest catalyst.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IONQ — the trapped-ion direct comp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More mature commercial revenue; lower multiple; faster growth — the credibility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7607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Financial profile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9164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</a:tblGrid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IONQ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$25.5B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Enterprise value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$22.4B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FY25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$130.0M (+202%)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Q1'26 revenue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$64.7M (+755% YoY)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TTM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$187M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Cash &amp; investments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$3,100M (Q1'26)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Q1'26 Adj.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($96.8M)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EV/FY25 revenue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~172×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EV/TTM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~120×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Latest system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Forte / Tempo (5th gen)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AWS, AstraZeneca, NVIDIA,</a:t>
                      </a:r>
                    </a:p>
                    <a:p>
                      <a:r>
                        <a:t>AFRL, ORNL, DARPA (HARQ)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1097280"/>
            <a:ext cx="566928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QNT vs IONQ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9496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IONQ trades at LESS than half QNT's EV/Rev: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IONQ: ~172× FY25 vs QNT ~491×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IONQ: ~120× TTM vs QNT ~466×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…despite better fundamentals: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6× the revenue base ($130M vs $31M)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Far higher Q1 growth rate (+755% vs +34% trailing)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AWS distribution + NVIDIA partnership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More diversified customer base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…and superior tech credentials: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99.99% 2Q fidelity (lab) — best in industry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#AQ 64 achieved (commercial benchmark)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DARPA HARQ heterogeneous architecture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The IONQ multiple is the 'sanity anchor'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At IONQ's 172× FY25 mult, QNT implied ~$50-55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Suggests QNT IPO range $53-55 was 'fair vs IONQ'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Trading at $68 = ~30% premium to that anchor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RGTI and QBTS — small-revenue peers (use with care)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Tiny denominators distort multiples; both are noise more than signal for QNT pricing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76072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Rigetti Computing (RGTI)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39496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Superconducting modality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FY25 revenue: $7.1M (extremely small)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Q1'26 revenue: $4.4M (+199% YoY)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Market cap $7.8B; EV $7.3B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EV / FY25 rev: ~1,023× (very distorted by low denominator)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EV / TTM rev: ~726×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Latest milestone: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Cepheus-1-108Q general availability (Apr 2026)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12 chiplets × 9 qubits each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99.1% median 2Q fidelity (target 99.5% 2H'26)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Roadmap (deferred to 2H'26):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Formal update expected late 2026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Targeting 'quantum advantage' in ~3 years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Verdict: RGTI multiple is unusable for sizing QNT; tech is roughly 6-12 months behind QNT Helios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66928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D-Wave Quantum (QBTS)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9496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Quantum annealing modality (NOT universal gate-model)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FY25 revenue: $24.6M (+179% YoY)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Q1'26 revenue: $2.9M (−81% YoY vs Q1'25 system sale)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Market cap $10.0B; EV $9.4B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EV / FY25 rev: ~383×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EV / TTM rev: ~754× (also distorted)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Latest system: Advantage2 (May 2025)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4,400+ qubits, Zephyr topology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20-way connectivity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2× coherence vs Advantage1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Strategic move: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Acquired Quantum Circuits ($250M cash)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Adds gate-model optionality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  Diversifies modality bet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Verdict: annealing is a different category from QNT's gate-model. Multiple comp is misleading; technology comp irrelevant.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Technology scoreboard — gate-model quantum computers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By 2Q gate fidelity, qubit count, and FTQC roadmap year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05840"/>
          <a:ext cx="105613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91640"/>
                <a:gridCol w="1691640"/>
                <a:gridCol w="1691640"/>
                <a:gridCol w="1691640"/>
                <a:gridCol w="1691640"/>
              </a:tblGrid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QNT (Helios)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IONQ (Tempo)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RGTI (Cepheus)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IBM (Quantum Sys 2)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Times New Roman"/>
                        </a:rPr>
                        <a:t>Google (Willow)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 b="1">
                          <a:solidFill>
                            <a:srgbClr val="17365D"/>
                          </a:solidFill>
                          <a:latin typeface="Times New Roman"/>
                        </a:rPr>
                        <a:t>Modality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Trapped-ion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Trapped-ion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Superconducting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Superconducting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Superconducting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 b="1">
                          <a:solidFill>
                            <a:srgbClr val="17365D"/>
                          </a:solidFill>
                          <a:latin typeface="Times New Roman"/>
                        </a:rPr>
                        <a:t>Physical qubits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64+ AQ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108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1,121 (Condor)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105 (Willow)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 b="1">
                          <a:solidFill>
                            <a:srgbClr val="17365D"/>
                          </a:solidFill>
                          <a:latin typeface="Times New Roman"/>
                        </a:rPr>
                        <a:t>2Q gate fidelity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2E8640"/>
                          </a:solidFill>
                          <a:latin typeface="Times New Roman"/>
                        </a:rPr>
                        <a:t>99.921%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99.99% (lab)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99.1% (target 99.5%)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~99.5% (Heron r2)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2E8640"/>
                          </a:solidFill>
                          <a:latin typeface="Times New Roman"/>
                        </a:rPr>
                        <a:t>99.4%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 b="1">
                          <a:solidFill>
                            <a:srgbClr val="17365D"/>
                          </a:solidFill>
                          <a:latin typeface="Times New Roman"/>
                        </a:rPr>
                        <a:t>Connectivity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2E8640"/>
                          </a:solidFill>
                          <a:latin typeface="Times New Roman"/>
                        </a:rPr>
                        <a:t>All-to-all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All-to-all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Limited (chiplet)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Heavy hex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2D grid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 b="1">
                          <a:solidFill>
                            <a:srgbClr val="17365D"/>
                          </a:solidFill>
                          <a:latin typeface="Times New Roman"/>
                        </a:rPr>
                        <a:t>Quantum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2E8640"/>
                          </a:solidFill>
                          <a:latin typeface="Times New Roman"/>
                        </a:rPr>
                        <a:t>2^25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n/d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n/d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1024+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n/d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 b="1">
                          <a:solidFill>
                            <a:srgbClr val="17365D"/>
                          </a:solidFill>
                          <a:latin typeface="Times New Roman"/>
                        </a:rPr>
                        <a:t>Logical qubits demoed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2E8640"/>
                          </a:solidFill>
                          <a:latin typeface="Times New Roman"/>
                        </a:rPr>
                        <a:t>12 (w/ MSFT)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0 (lab)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2E8640"/>
                          </a:solidFill>
                          <a:latin typeface="Times New Roman"/>
                        </a:rPr>
                        <a:t>Below threshold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 b="1">
                          <a:solidFill>
                            <a:srgbClr val="17365D"/>
                          </a:solidFill>
                          <a:latin typeface="Times New Roman"/>
                        </a:rPr>
                        <a:t>FTQC target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2029 (Apollo)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2028 functional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Unclear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Beyond 2030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Beyond 2030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 b="1">
                          <a:solidFill>
                            <a:srgbClr val="17365D"/>
                          </a:solidFill>
                          <a:latin typeface="Times New Roman"/>
                        </a:rPr>
                        <a:t>Latest commercial system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Helios (Nov 2025)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Forte/Tempo (2026)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Cepheus-108Q (Apr'26)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Quantum System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Research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900" b="1">
                          <a:solidFill>
                            <a:srgbClr val="17365D"/>
                          </a:solidFill>
                          <a:latin typeface="Times New Roman"/>
                        </a:rPr>
                        <a:t>Public /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Public (QNT)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Public (IONQ)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Public (RGTI)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IBM 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Times New Roman"/>
                        </a:rPr>
                        <a:t>Alphabet 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4754880"/>
            <a:ext cx="11612880" cy="16459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Times New Roman"/>
              </a:rP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338560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Times New Roman"/>
              </a:rPr>
              <a:t>• QNT's edge is logical qubits demoed (12 with Microsoft — Sept 2024) — closest to commercial fault-tolerance demonstrations.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IONQ has slightly higher peak fidelity in lab but lower commercial track record on logical qubits.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Google Willow proved error-suppression-at-scale (Dec 2024) but is not commercial; QNT-Microsoft is the commercial analog.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7365D"/>
                </a:solidFill>
                <a:latin typeface="Times New Roman"/>
              </a:rPr>
              <a:t>• QNT roadmap to Apollo (2029) is the most aggressive timeline to fault-tolerant universal QC of any pure-play public name.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RIKEN concentration cliff — the underwritten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Single Japanese government customer was 60-90% of recent revenue; collapsed to 7% in Q1'26</a:t>
            </a:r>
          </a:p>
        </p:txBody>
      </p:sp>
      <p:pic>
        <p:nvPicPr>
          <p:cNvPr id="6" name="Picture 5" descr="riken_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0" y="1005840"/>
            <a:ext cx="3657600" cy="51206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Times New Roman"/>
              </a:rPr>
              <a:t>What happened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463040"/>
            <a:ext cx="347472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RIKEN bought a QNT on-prem system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Lumpy hardware delivery revenue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+ongoing maintenance/service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Q1'26: install complete → 7% of rev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Helios was supposed to fill the gap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Helios commercial launch Nov 2025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Launch customers ramping in 2H'26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Risk: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Q2/Q3 26 prints could show revenue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decline YoY before Helios ramp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Market may react harshly to first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reported quarter as public co.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Mitigant: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Quantum Origin SaaS (recurring)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Helios cloud + on-prem expanding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$100M CHIPS LOI (govt)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Revenue build — 4 streams, 10-year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Helios cloud + on-prem becomes the primary growth engine; RIKEN runs off</a:t>
            </a:r>
          </a:p>
        </p:txBody>
      </p:sp>
      <p:pic>
        <p:nvPicPr>
          <p:cNvPr id="6" name="Picture 5" descr="revenue_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0" y="1005840"/>
            <a:ext cx="3657600" cy="51206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Times New Roman"/>
              </a:rPr>
              <a:t>Base case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463040"/>
            <a:ext cx="347472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RIKEN: runs off to $0 by FY2030E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Helios cloud + on-prem: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$22M (FY26E) → $580M (FY30E)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→ $2,480M (FY35E)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~60% CAGR base case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Quantum Origin + InQuanto SaaS: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$8M (FY26E) → $600M (FY35E)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Higher gross margin (~70%)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Government / DARPA / CHIPS: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$6M (FY26E) → $200M (FY35E)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DARPA QBI Stage B + CHIPS LOI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Total FY35E revenue: $3,280M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Implied 2035 QC market share: ~6.6%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(of $50B mid-case TAM)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Football field — implied price ranges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Traditional DCF anchors low; QBTS-comp anchors high; current $68 sits in lower-mid</a:t>
            </a:r>
          </a:p>
        </p:txBody>
      </p:sp>
      <p:pic>
        <p:nvPicPr>
          <p:cNvPr id="6" name="Picture 5" descr="football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77240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914400"/>
            <a:ext cx="3474720" cy="5212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Times New Roman"/>
              </a:rPr>
              <a:t>Method ranges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371600"/>
            <a:ext cx="329184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Traditional DCF: $18-38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honest intrinsic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mid $25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IONQ-anchored: $45-55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applies IONQ ~172× FY25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Peer median: $50-62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median of 3 quantum peers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Reverse-engineered: $55-85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what $50B TAM + 12% share gets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Bull case: $75-135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McKinsey high + Apollo execution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QBTS-anchored: $110-165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applies QBTS ~1,023× FY25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distorted by tiny denominator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→ $68 sits below peer median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→ but well above intrinsic DCF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Dual DCF — traditional vs reverse-engineered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Both frameworks land in different places; the gap is the optionality 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760720" cy="54864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Traditional DCF (intrinsic)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54864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</a:tblGrid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Line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15.85%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Terminal growth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4.0%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Sum PV(FCF) FY26E-FY35E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$1,372M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Terminal value (Gordon)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$11,472M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PV of TV @ 15.85%, 9.5 yrs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$2,835M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Enterprise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$4,207M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+ Cash post-IPO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$2,080M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- Debt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Equity value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$6,287M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÷ Shares (M)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253.9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Implied price ($)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Times New Roman"/>
                        </a:rPr>
                        <a:t>$24.76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Current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Premium to intrinsic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Times New Roman"/>
                        </a:rPr>
                        <a:t>+175%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914400"/>
            <a:ext cx="5669280" cy="5486400"/>
          </a:xfrm>
          <a:prstGeom prst="rect">
            <a:avLst/>
          </a:prstGeom>
          <a:solidFill>
            <a:srgbClr val="FFFFFF"/>
          </a:solidFill>
          <a:ln w="63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Reverse-engineered (at $68 trading)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463040"/>
          <a:ext cx="53949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468880"/>
              </a:tblGrid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Line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Current price ($)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$68.00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× Shares (M)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253.9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= Market 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$17,265M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- Cash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$2,080M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= EV (today)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$15,185M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Mature multiple (FY35E)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8.0× EV/Rev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Discount factor (9.5 yrs)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4.16×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Implied FY35E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ED7D31"/>
                          </a:solidFill>
                          <a:latin typeface="Times New Roman"/>
                        </a:rPr>
                        <a:t>$7,680M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Model FY35E revenue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$3,280M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Gap (implied / 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ED7D31"/>
                          </a:solidFill>
                          <a:latin typeface="Times New Roman"/>
                        </a:rPr>
                        <a:t>+134%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Implied 2035 QC TAM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15.4% of $50B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Required 10-yr CAGR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ED7D31"/>
                          </a:solidFill>
                          <a:latin typeface="Times New Roman"/>
                        </a:rPr>
                        <a:t>~75%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Bull / base / bear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What needs to be true at each price level — for the next 12-18 months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05840"/>
          <a:ext cx="1216152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108960"/>
                <a:gridCol w="2743200"/>
                <a:gridCol w="3291840"/>
              </a:tblGrid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Bull ($110+)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Base ($60-75)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Bear ($25-45)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FY30E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$1.0B+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$725M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$300-450M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FY35E revenue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$5.5B+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$3.3B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$1.5-2.0B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2035 QC market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~3-4%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FCF crossover year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2E8640"/>
                          </a:solidFill>
                          <a:latin typeface="Times New Roman"/>
                        </a:rPr>
                        <a:t>2028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2029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  <a:latin typeface="Times New Roman"/>
                        </a:rPr>
                        <a:t>2031+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Helios ramp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2E8640"/>
                          </a:solidFill>
                          <a:latin typeface="Times New Roman"/>
                        </a:rPr>
                        <a:t>Beats Hololens-style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Hits launch-customer guidance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  <a:latin typeface="Times New Roman"/>
                        </a:rPr>
                        <a:t>Slips by 6-12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Sol (2027) delivery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2E8640"/>
                          </a:solidFill>
                          <a:latin typeface="Times New Roman"/>
                        </a:rPr>
                        <a:t>On time, 192 fully connected qubits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On time, mostly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  <a:latin typeface="Times New Roman"/>
                        </a:rPr>
                        <a:t>Slips to 2028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Apollo (2029) FTQC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2E8640"/>
                          </a:solidFill>
                          <a:latin typeface="Times New Roman"/>
                        </a:rPr>
                        <a:t>On time, demonstrated fault-tolerance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Slips ~6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  <a:latin typeface="Times New Roman"/>
                        </a:rPr>
                        <a:t>Slips &gt;12 months or 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Competitor displacement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IONQ Tempo underperforms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No change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  <a:latin typeface="Times New Roman"/>
                        </a:rPr>
                        <a:t>IONQ scales faster on AWS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Macro for pre-profit 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Rate cuts; ERP compresses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Stable rates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  <a:latin typeface="Times New Roman"/>
                        </a:rPr>
                        <a:t>Recession / risk-off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HON sells down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Orderly secondary, no overhang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Held flat through 2027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  <a:latin typeface="Times New Roman"/>
                        </a:rPr>
                        <a:t>Forced sale, overhang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Implied EV / FY25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~800x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~490x (current)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~200x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imes New Roman"/>
              </a:rPr>
              <a:t>Decision &amp; Honeywell SOTP 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45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Times New Roman"/>
              </a:rPr>
              <a:t>QNT: HOLD with downside skew. HON: marginal positive, ~5% NAV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760720" cy="54864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QNT (NASDAQ) — decision matrix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57607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017520"/>
                <a:gridCol w="1371600"/>
              </a:tblGrid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Price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$25-35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Trades to intrinsic DCF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2E8640"/>
                          </a:solidFill>
                          <a:latin typeface="Times New Roman"/>
                        </a:rPr>
                        <a:t>BUY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$35-50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Below peer median; IONQ-comparable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2E8640"/>
                          </a:solidFill>
                          <a:latin typeface="Times New Roman"/>
                        </a:rPr>
                        <a:t>BUY 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$50-65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Peer-median footing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2E8640"/>
                          </a:solidFill>
                          <a:latin typeface="Times New Roman"/>
                        </a:rPr>
                        <a:t>BUY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$65-80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ED7D31"/>
                          </a:solidFill>
                          <a:latin typeface="Times New Roman"/>
                        </a:rPr>
                        <a:t>CURRENT — full optionality priced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ED7D31"/>
                          </a:solidFill>
                          <a:latin typeface="Times New Roman"/>
                        </a:rPr>
                        <a:t>HOLD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$80-100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Premium vs peers + DCF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Times New Roman"/>
                        </a:rPr>
                        <a:t>TRIM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&gt;$100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17365D"/>
                          </a:solidFill>
                          <a:latin typeface="Times New Roman"/>
                        </a:rPr>
                        <a:t>Bull case priced 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Times New Roman"/>
                        </a:rPr>
                        <a:t>SELL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Times New Roman"/>
              </a:rPr>
              <a:t>Key catalysts (next 12 months)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48640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Q2'26 print (Aug 2026) — first as public co.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RIKEN cliff visibility, Helios ramp narrative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Sol roadmap update (timing TBC)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Honeywell secondary offering (likely 6-12 mo)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  Lockup expiry creates supply overhang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CHIPS Act $100M LOI conversion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Hyperscaler distribution deal expansions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669280" cy="54864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65D"/>
                </a:solidFill>
                <a:latin typeface="Times New Roman"/>
              </a:rPr>
              <a:t>HON (NYSE) — sum-of-parts angle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146304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1371600"/>
                <a:gridCol w="1371600"/>
              </a:tblGrid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Segment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2025 rev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Multiple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EV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Aerospace 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$15.8B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18×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~$80B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Industrial Auto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$9.2B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15× EBITDA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~$35B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Building 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$6.1B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16×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~$22B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Energy &amp; Sustain.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$7.4B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12× EBITDA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~$18B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QNT stake (~48%)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2E8640"/>
                          </a:solidFill>
                          <a:latin typeface="Times New Roman"/>
                        </a:rPr>
                        <a:t>~$7.5B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Net cash / other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$(15B)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Total 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~$147B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Implied HON share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~$226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lIns="40000" rIns="40000" tIns="20000" bIns="20000"/>
                    <a:lstStyle/>
                    <a:p>
                      <a:pPr algn="l"/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Current HON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rIns="40000" tIns="20000" bIns="20000"/>
                    <a:lstStyle/>
                    <a:p>
                      <a:pPr algn="ctr"/>
                      <a:r>
                        <a:rPr sz="1000" b="0">
                          <a:solidFill>
                            <a:srgbClr val="17365D"/>
                          </a:solidFill>
                          <a:latin typeface="Times New Roman"/>
                        </a:rPr>
                        <a:t>~$213 [E]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365D"/>
                </a:solidFill>
                <a:latin typeface="Times New Roman"/>
              </a:rPr>
              <a:t>HON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257800"/>
            <a:ext cx="5486400" cy="12801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QNT IPO adds ~$5/share to HON SOTP (~2.4%)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Real upside if HON markets a clean SOTP story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17365D"/>
                </a:solidFill>
                <a:latin typeface="Times New Roman"/>
              </a:rPr>
              <a:t>• Industrial-conglomerate discount may compress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365D"/>
                </a:solidFill>
                <a:latin typeface="Times New Roman"/>
              </a:rPr>
              <a:t>• Verdict for HON shareholders: modest positive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6019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Times New Roman"/>
              </a:rPr>
              <a:t>Quantinuum (QNT) — Competitive Analysis | Jun 4,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6019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