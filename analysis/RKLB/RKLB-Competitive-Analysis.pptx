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Times New Roman"/>
              </a:rPr>
              <a:t>NASDAQ: RKLB — Investment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Rocket Lab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>
                <a:solidFill>
                  <a:srgbClr val="F26A21"/>
                </a:solidFill>
                <a:latin typeface="Times New Roman"/>
              </a:rPr>
              <a:t>Competitive Landscape, Comps &amp; DCF (small-cap-growth)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</a:rPr>
              <a:t>As of June 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Peers: ASTS · PL · IRDM · RDW  +  LMT (old-space anchor)  +  SpaceX (private memo)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Built with deep-research + competitive-analysis + comps-analysis + 3-statement-model + dcf-model skills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Companions: RKLB-Comps-Analysis.xlsx · RKLB-Model.xlsx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Best-in-class small-cap space pure-play — but at ~$123 you're paying for SpaceX-lite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1. The franchise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3444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RKLB Q1 CY26: $200M (+63%), GAAP GM 38.2%, $2.22B backlog (+108% YoY), $1.48B cash. Bifurcated: Launch Services (Electron 21/yr) + Space Systems (~67% of rev, incl. Mynaric optical comms closed April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78024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2. The Neutron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478024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Q4 2026 NET first launch (slipped from mid-2026 after Q4 2025 tank-test failure). 5+ Neutron contracts booked Q1 26 alone; 5 more in the May 'mystery customer' 8-launch deal. Target $50-55M/launch at ~50% mature GM. 5 in FY27 → 18-20/yr at mature cadence.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21608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3. The valuation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721608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Stock has rocketed to $123 (~$75B mkt cap, ~110x TTM rev, ~6x from $20-30 in early 2025). Analyst consensus PT $103.91 — 16% BELOW spot. Our base-case DCF: $9.35/share (-92% vs $123). The market is pricing SpaceX-lite optionality beyond FY31.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65192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4. The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965192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Wonderful business, broken price for fundamentals-driven entry. Long for momentum/optionality, NOT for intrinsic value. Watch Neutron Q4 26 test stand cadence — slip = mean-reversion catalyst. Pair vs RDW for cleaner risk (same theme, 9x vs 110x EV/Rev).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RKLB Q1 CY26 IR (May 7, 2026); StockAnalysis (June 2 close); RKLB-Model.xlsx. Research, NOT investment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The question this analysis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17365D"/>
                </a:solidFill>
                <a:latin typeface="Times New Roman"/>
              </a:rPr>
              <a:t>"Rocket Lab is the highest-quality small-cap space pure-play with backlog up +108% YoY and Neutron debut due Q4 2026 — but the stock has 6x'd to $123 and the analyst consensus PT is BELOW spot. What is the intrinsic value through the Neutron ramp, and how should that frame an entry?"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Five lenses: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(1) Market — space launch + space infra demand; sovereign + commercial mix.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43984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(2) Competitive — vs SpaceX (private, dominant) + ASTS, PL, IRDM, RDW.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6460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(3) Financial (comps) — EV/Revenue the cleaner gauge in a pre-profit cohort.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8523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(4) Intrinsic (DCF) — small-cap-growth DCF with wide bands; conservative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05856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(5) Decision — express the theme without paying ~110x trailing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Space market is consolidating around SpaceX + a handful of pure-plays; sovereign demand is the tailwind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3200400"/>
                <a:gridCol w="2834640"/>
              </a:tblGrid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Segment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TAM / state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dynamic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RKLB position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Launch (small/medium)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~$15-20B/yr, growing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SpaceX dominates Falcon 9 (~140/yr); ride-share commoditizing small payloads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Electron leader in small (~$10M); Neutron targets medium ($50M)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Space Systems / Components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~$25B+ (sat manufacturing, subsystems)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Verticalization (SpaceX in-house); growing 3rd-party supply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RKLB Photon, solar arrays (SolAero), star trackers, Mynaric optical comms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Satellite Communications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~$50B (incl. Starlink dominance)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Starlink consolidating LEO comms (&gt;10M subs); IRDM serves narrowband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Not direct (RKLB is supplier, not operator)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US Gov't / Defense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~$25B+ (DoD + NASA + NRO)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SDA Tranche 2 + USAF/AFRL Rocket Cargo + classified launches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$1.3B SDA T2 Beta contract; AFRL Rocket Cargo NET 2026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Total addressable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$100B+ commercial+gov't 2030E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SpaceX captures launch + comms; opportunity in components + non-SpaceX launch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Top 5 customers = 49% revenue (heavy USG)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Industry estimates; SpaceX S-1 (April 2026); SDA + AFRL contract announcements; RKLB 10-K customer concentration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Rocket Lab profile — Q1 26 record, $2.22B backlog, $1.48B cash, Neutron Q4 NET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291840"/>
                <a:gridCol w="4572000"/>
              </a:tblGrid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Note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Q1 CY26 revenue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$200.3M (+63.5% YoY)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Beat consensus by ~$20M; record quarter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  Launch Services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$63.7M (+78.9%)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 Electron+HASTE missions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  Space Systems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$136.7M (+57.2%)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~68% of revenue; Photon + Mynaric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Q1 26 gross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38.2%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Improving from FY25 GAAP ~30%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Q1 26 adj. EBITDA / NI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-$11.8M / -$45M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Narrowing losses; -$0.07 EPS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Backlog (Q1 26)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$2.22B (+108% YoY, +20.2% QoQ)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~36% deliverable within 12 months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Cash + marketable securities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$1.48B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+$2B total liquidity; FY25 ATM raised $1.146B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FY26 H1 (Q1 actual + Q2 guide mid)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~$432M ($200M + $232.5M)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Q2 guide +12% above $208M consensus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Mynaric (closed April 14, 2026)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$155.3M (cash + 2.28M shares)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Optical inter-satellite laser comms; Rocket Lab Europe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share / 52-wk high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~$75B / $123.32 / $150.23 (May 27)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Up ~5-6x from $20-30 in early 2025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RKLB Q1 CY26 8-K / 10-Q (May 7, 2026); FY25 10-K; press releases on Mynaric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Neutron is the thesis — Q4 2026 debut, ~20 launches/yr at mature cadence</a:t>
            </a:r>
          </a:p>
        </p:txBody>
      </p:sp>
      <p:pic>
        <p:nvPicPr>
          <p:cNvPr id="4" name="Picture 3" descr="neu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3860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Neutron list price $50-55M target — vs SpaceX Falcon 9 ~$67M.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5+ Neutron contracts booked Q1 26 (record); 5 more in May 'mystery customer' 8-launch deal.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Mature ~20/yr (vs SpaceX ~140 Falcon 9): RKLB targets 15% of medium-lift market = ~$1B/yr at scale.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Q4 2026 first launch will be EXPENDABLE (first stage). Reuse target ~3-5 flights from late 2027+.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Engine qualification complete; integrated systems test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Spaceflight Now (May 2026 'mystery customer' deal); RKLB Q1 CY26 IR; engine test commentary.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EV/Revenue — RKLB at ~110x sits in the upper-growth zone (ASTS only higher; SpaceX ~95x)</a:t>
            </a:r>
          </a:p>
        </p:txBody>
      </p:sp>
      <p:pic>
        <p:nvPicPr>
          <p:cNvPr id="4" name="Picture 3" descr="ev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38778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IRDM (7.5x) = mature cash-flow anchor; RKLB will land here if growth stalls.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RDW (9x) = closest growth comp; pre-profit; same theme, much cheaper.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PL (49x) = subscription EO premium.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SpaceX (95x) = the upper bound for a credible operator.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RKLB (110x) PRICES AS IF it's better than SpaceX on terminal value.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ASTS (410x) is pre-revenue option — not a usable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RKLB-Comps-Analysis.xlsx. SpaceX EV/Rev derived from $1.75T IPO target / $18.7B FY25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Peer deep-dive: what each peer tells you about RKLB's 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2194560"/>
                <a:gridCol w="1097280"/>
                <a:gridCol w="5669280"/>
              </a:tblGrid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Peer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Mkt cap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TTM rev / growth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EV/Rev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tells you about RKLB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IRDM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~$5.25B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$887M / +2%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~7.5x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Mature-state anchor. If RKLB stops growing → P/S compresses ~15x.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PL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~$15.4B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$308M / +26%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~49x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First adj. EBITDA+ year. Subscription EO model — RKLB doesn't have.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RDW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~$4.1B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$432M / +58%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~9x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Closest growth comp (space infra, pre-profit). Same theme, 1/12 the multiple.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ASTS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~$35B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$85M / pre-rev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~410x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Pre-revenue option. Not a usable anchor.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LMT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~$121B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$75.1B / flat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~1.85x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Old-space proxy. Space segment ~$13B/yr at ~10% op margin = the floor.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SpaceX*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$1.75T target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$18.7B / +43%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~95x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PRIVATE benchmark (S-1 filed April 2026). The upper bound for a credible operator.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*SpaceX is private; multiple computed from $1.75T IPO target (Bloomberg) and FY25 S-1 disclosed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Valuation — the gap between DCF ($9) and market ($123) is the SpaceX-lite optionality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200400"/>
                <a:gridCol w="310896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Implied $/share range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vs $123.32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DCF — base (WACC 13% / g 3.5%)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−92%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DCF — sensitivity grid (WACC 11-15%)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$8 – $14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Entire grid below price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DCF — extended bull (10% terminal growth)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~$25-40 [E]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−70% to −80%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EV/Revenue — RDW comp (~9x × $679M)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−92%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EV/Revenue — PL comp (~49x × $679M)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−56%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EV/Revenue — SpaceX comp (~95x × $679M)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~$104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−16% (≈ analyst consensus PT $103.91)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Analyst consensus PT (S&amp;P, 18 analysts)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$103.91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−15.7% — Street already skeptical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Only the SpaceX-comp lens ($104) gets near the current price — and that's against a still-private benchmark.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DCF is structurally bearish for pre-profit names: heavy in TV, conservative on post-FY31 growth.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Reality check: at $123 you're paying for ~10%+ annual growth through 2040+. That's SpaceX-lite execution priced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RKLB-Comps-Analysis.xlsx + RKLB-Model.xlsx. Implied $/share = method × shares ($679M TTM / 608M shares).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DCF detail — Neutron commercial revenue FY27+; first profitable year FY28; FY31 uFCF $642M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</a:tblGrid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DCF bridge (base)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$M / $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explicit FCF (FY27-31)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609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Terminal value (Gordon)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6,779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terminal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3,632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Enterprise value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4,240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(+) Net cash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1,442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Equity value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5,682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÷ Diluted shares (M)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608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value / share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$9.35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price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$123.32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Upside / (downside)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(92.4%)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1280160"/>
            <a:ext cx="5852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7365D"/>
                </a:solidFill>
                <a:latin typeface="Times New Roman"/>
              </a:rPr>
              <a:t>Sensitivity — implied $/share (WACC × 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691640"/>
          <a:ext cx="5897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6868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WACC ↓ / g →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2.5%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4.0%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4.5%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11.0%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12.0%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13.0% (base)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14.0%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15.0%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4572000"/>
            <a:ext cx="59436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Wider WACC band (11-15%) reflects small-cap + pre-profit risk; beta 1.8.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TV is 86% of EV — every $ of post-FY31 growth is amplified.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To bridge to $123 you'd need terminal growth ~10%+ for many years (SpaceX-lite path).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RKLB-Model.xlsx (validated, 225 formulas, 0 errors).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Bull / base / bear — anchored to Neutron execution + sovereign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5120640"/>
                <a:gridCol w="3840480"/>
              </a:tblGrid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Prob.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drivers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Implied 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Bull (SpaceX-lite)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Neutron mature 30+ launches/yr; sovereign demand drives $5B+ revenue by FY30; 25%+ mature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~$80-130 (matches/beats price; extended bull DCF)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Base (Neutron ramps as planned)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55%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Neutron 18-20/yr at FY31; 15% mature op margin; Space Systems compounds 25%/yr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~$9-15 (DCF); ~$50-100 on EV/Rev comps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Bear (Neutron slips/fails)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Neutron debut delayed past 2027 or first 3-5 flights have RUD; SDA T2 underwhelms; ATM dilution restarts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~$30-50 (mean-reversion to RDW comp); meaningful downside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Signposts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1) Neutron integrated systems test (H2 2026)  2) First Neutron launch (Q4 2026 NET)  3) Additional Neutron contract bookings  4) ATM raise activity (signals cash burn)  5) DoD NSSL Lane 1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Probabilities are author's judgment. RKLB IR not provided full-year guidance; consensus $900M-$1.0B FY26 (range).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Decision frame — four ways to express (or pass on) the Rocket Lab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64592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Pass at $123 — wait for a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DCF says $9-15; even the SpaceX-lite optionality only justifies ~$100-130. Analyst PT $104 below spot. Wait for Neutron miss/scare or general space-stock correction.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64592" cy="105156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26A21"/>
                </a:solidFill>
                <a:latin typeface="Times New Roman"/>
              </a:rPr>
              <a:t>Pair trade: long RDW / short RKLB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Same growth theme (space infra, pre-profit, US gov't-dependent); RDW at 9x vs RKLB at 110x EV/Rev — relative-value short.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02736"/>
            <a:ext cx="164592" cy="10515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02736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Times New Roman"/>
              </a:rPr>
              <a:t>Express the theme via SpaceX 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0208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When SpaceX IPOs (potentially June 2026 onward), get the dominant operator at ~95x EV/Rev — vs RKLB at 110x without the dominance.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18304"/>
            <a:ext cx="164592" cy="10515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1830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FBFBF"/>
                </a:solidFill>
                <a:latin typeface="Times New Roman"/>
              </a:rPr>
              <a:t>Hold a small position — story-stock optionality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65776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If you owned RKLB lower, hold a portion for Neutron event-cadence + sovereign tailwinds. Trim into strength; don't add at $123.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Research / decision-framing only — NOT investment advice. Cross-check against a primary terminal before acting.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Key risks — single product (Neutron), customer concentration, 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7680960"/>
              </a:tblGrid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Risk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Detail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Neutron execution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Q4 2026 NET (slipped from mid-2026); first 1-3 flights expendable. RUD on inaugural = stock -30%+.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Customer concentration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Top 5 customers = 49% FY25 revenue; heavy USG (SDA, USAF, NASA, NRO, DARPA). Continuing-resolution risk.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Valuation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~110x TTM EV/Rev; analyst PT $104 (-16%); embeds ~10%+ growth through 2040+.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Cash burn / dilution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FY25 ATM raised $1.146B; Q1 26 cash $1.48B — adequate but Neutron build + Mynaric integration consume.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SpaceX competition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Falcon 9 ~$67M can undercut Neutron's ~$50-55M target; Starship adds heavy-lift competition.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First Electron failure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LOW-MED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21-for-21 in FY25; any future RUD impacts customer trust + insurance.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Mynaric integration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LOW-MED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First international ops (Germany); FX, ITAR/EAR complexity, Mynaric prior cash burn.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RKLB FY25 10-K risk factors; Bleecker Street short thesis; Space Insider; press coverage of Neutron delay (Spaceflight Now).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7365D"/>
                </a:solidFill>
                <a:latin typeface="Times New Roman"/>
              </a:rPr>
              <a:t>Primary sources &amp; data-gap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Rocket Lab Q1 CY26 8-K / 10-Q (May 7, 2026); FY25 10-K (Feb 26, 2026); FY24 10-K (Feb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Rocket Lab IR press releases — Mynaric close (April 14, 2026), 'mystery customer' 8-launch deal (May 7,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Spaceflight Now / SpaceNews / NASASpaceFlight — Neutron timeline coverage; tank-test failure (Nov 2025); Q4 2026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Peer Q1 26 8-Ks/IR: ASTS (May 11), PL (Mar 19 FY26), IRDM (Apr), RDW (May 8), LMT (Apr)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SpaceX S-1 (April 2026 confidential; first financials disclosed); Bloomberg / Reuters / Satellite Today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Stock data: StockAnalysis, Public.com, Macrotrends, Yahoo Finance (~June 1-3,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Analyst consensus: S&amp;P Global poll of 18 analysts (PT $103.91, mean Buy)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Caveats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MCP terminal connectors NOT configured. All data from SEC filings + reputable secondary sources, [E]-flagged.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Pre-profit DCF: wide WACC bands (11-15%); model is structurally bearish for story stocks. Use EV/Rev as the cross-check.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7316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Neutron pricing/cadence are management commentary, not contracts — execution-dependent.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02352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Mynaric (NOT MDA Space) was the 2026 acquisition; integration in Q2-Q3 26 may produce one-time charges.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31536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SpaceX figures are S-1 disclosed but the company is still private; IPO valuation could land $780B-$2T+ range.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Research / decision-framing only — NOT investment advice.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per: deep-research + competitive-analysis + comps-analysis + 3-statement-model + dcf-model + audit-xls + ib-check-deck.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